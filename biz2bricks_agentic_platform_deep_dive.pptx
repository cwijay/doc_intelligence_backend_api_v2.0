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2286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321040" y="1371600"/>
            <a:ext cx="3200400" cy="32004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69680" y="1828800"/>
            <a:ext cx="2194560" cy="2194560"/>
          </a:xfrm>
          <a:prstGeom prst="ellipse">
            <a:avLst/>
          </a:prstGeom>
          <a:solidFill>
            <a:srgbClr val="3E4D89"/>
          </a:solidFill>
          <a:ln w="12700">
            <a:solidFill>
              <a:srgbClr val="3E4D89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0" y="2194560"/>
            <a:ext cx="1463040" cy="1463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1280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BIZ2BRICKS  ·  VP ENGINEERING DEEP DIVE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31520" y="173736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Documents to Agents</a:t>
            </a:r>
            <a:endParaRPr lang="en-US" sz="4600" dirty="0"/>
          </a:p>
        </p:txBody>
      </p:sp>
      <p:sp>
        <p:nvSpPr>
          <p:cNvPr id="9" name="Text 6"/>
          <p:cNvSpPr/>
          <p:nvPr/>
        </p:nvSpPr>
        <p:spPr>
          <a:xfrm>
            <a:off x="731520" y="283464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Turning the SaaS platform into a no-code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single + multi-agent business platform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731520" y="4389120"/>
            <a:ext cx="54864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1520" y="4480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the Biz2Bricks exec team  ·  April 2026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31520" y="4846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C.K. — VP Engineering  ·  cwijay@biz2bricks.ai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31520" y="6035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brainstorms: kwality_saas_architecture.html · biz2bricks_platform_architecture.html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73152" cy="32918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A11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opportunity: become the SMB Glean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109728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28800"/>
            <a:ext cx="5120640" cy="4206240"/>
          </a:xfrm>
          <a:prstGeom prst="rect">
            <a:avLst/>
          </a:prstGeom>
          <a:solidFill>
            <a:srgbClr val="0A1128"/>
          </a:solidFill>
          <a:ln w="9525">
            <a:solidFill>
              <a:srgbClr val="0A112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already have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468880"/>
            <a:ext cx="45720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production multi-tenant
</a:t>
            </a:r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document-intelligence SaaS
</a:t>
            </a:r>
            <a:pPr indent="0" marL="0">
              <a:buNone/>
            </a:pPr>
            <a:r>
              <a:rPr lang="en-US" sz="22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spanning 4 verticals
</a:t>
            </a:r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just need an agent layer</a:t>
            </a:r>
            <a:endParaRPr lang="en-US" sz="2200" dirty="0"/>
          </a:p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compete with Glean — but</a:t>
            </a:r>
            <a:endParaRPr lang="en-US" sz="2200" dirty="0"/>
          </a:p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aimed at the underserved SMB.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852160" y="1828800"/>
            <a:ext cx="283464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4E9F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852160" y="1828800"/>
            <a:ext cx="73152" cy="20116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80760" y="205740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6080760" y="283464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verticals ready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· Recruitment · Retail · Real Estate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869680" y="1828800"/>
            <a:ext cx="283464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4E9F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869680" y="1828800"/>
            <a:ext cx="73152" cy="20116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98280" y="205740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$199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9098280" y="283464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entry tier today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(Glean entry: ~$60K/yr)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852160" y="4023360"/>
            <a:ext cx="283464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4E9F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852160" y="4023360"/>
            <a:ext cx="73152" cy="20116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80760" y="42519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12+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6080760" y="502920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Agent-builder primitives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add (triggers, steps, tools, memory…)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869680" y="4023360"/>
            <a:ext cx="283464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4E9F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869680" y="4023360"/>
            <a:ext cx="73152" cy="20116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98280" y="42519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Q2</a:t>
            </a:r>
            <a:endParaRPr lang="en-US" sz="3800" dirty="0"/>
          </a:p>
        </p:txBody>
      </p:sp>
      <p:sp>
        <p:nvSpPr>
          <p:cNvPr id="24" name="Text 22"/>
          <p:cNvSpPr/>
          <p:nvPr/>
        </p:nvSpPr>
        <p:spPr>
          <a:xfrm>
            <a:off x="9098280" y="502920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target for Agent Builder v1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Riding MCP-as-Linux-Foundation tailwind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65562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Biz2Bricks  ·  Agentic Platform Deep Dive  ·  Confidential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972800" y="655624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73152" cy="32918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TL;DR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A11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bets I'm asking the exec team to sign off 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109728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74520"/>
            <a:ext cx="11247120" cy="1353312"/>
          </a:xfrm>
          <a:prstGeom prst="rect">
            <a:avLst/>
          </a:prstGeom>
          <a:solidFill>
            <a:srgbClr val="FBF9F4"/>
          </a:solidFill>
          <a:ln w="9525">
            <a:solidFill>
              <a:srgbClr val="E4E9F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874520"/>
            <a:ext cx="73152" cy="135331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05740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40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2194560"/>
            <a:ext cx="548640" cy="5486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194560" y="2039112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1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a no-code Agent Builder on top of our existing stack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2194560" y="2532888"/>
            <a:ext cx="9418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Glean-style primitives (triggers · steps · actions · flow · memory · sub-agents) running on LangGraph + our multi-tenant core. Re-use every RLS, GCS, and Gemini RAG investment we already made.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57200" y="3319272"/>
            <a:ext cx="11247120" cy="1353312"/>
          </a:xfrm>
          <a:prstGeom prst="rect">
            <a:avLst/>
          </a:prstGeom>
          <a:solidFill>
            <a:srgbClr val="FBF9F4"/>
          </a:solidFill>
          <a:ln w="9525">
            <a:solidFill>
              <a:srgbClr val="E4E9F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7200" y="3319272"/>
            <a:ext cx="73152" cy="135331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85800" y="3502152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40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3639312"/>
            <a:ext cx="548640" cy="5486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194560" y="3483864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1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Position as “Glean for SMBs” with vertical agent packs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2194560" y="3977640"/>
            <a:ext cx="9418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Glean starts at ~$60K/yr. We can own the $199–$1,999/mo band with pre-built agent packs per vertical (food, recruitment, retail, real estate) — a moat Glean doesn't have.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457200" y="4764024"/>
            <a:ext cx="11247120" cy="1353312"/>
          </a:xfrm>
          <a:prstGeom prst="rect">
            <a:avLst/>
          </a:prstGeom>
          <a:solidFill>
            <a:srgbClr val="FBF9F4"/>
          </a:solidFill>
          <a:ln w="9525">
            <a:solidFill>
              <a:srgbClr val="E4E9F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57200" y="4764024"/>
            <a:ext cx="73152" cy="135331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85800" y="4946904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40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5084064"/>
            <a:ext cx="548640" cy="54864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2194560" y="4928616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1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Change pricing to usage-metered with 5 tiers + transparent overage</a:t>
            </a:r>
            <a:endParaRPr lang="en-US" sz="1700" dirty="0"/>
          </a:p>
        </p:txBody>
      </p:sp>
      <p:sp>
        <p:nvSpPr>
          <p:cNvPr id="23" name="Text 18"/>
          <p:cNvSpPr/>
          <p:nvPr/>
        </p:nvSpPr>
        <p:spPr>
          <a:xfrm>
            <a:off x="2194560" y="5422392"/>
            <a:ext cx="9418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Starter/Growth/Business for simple seats + storage. Add Explorer (free) and Enterprise (BYOK/SSO/VPC). Meter agent runs at $0.01/step with in-app spend caps — the opposite of Glean's opaque pricing.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457200" y="65562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Biz2Bricks  ·  Agentic Platform Deep Dive  ·  Confidential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10972800" y="655624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73152" cy="32918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A11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actually live today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109728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28800"/>
            <a:ext cx="5669280" cy="4389120"/>
          </a:xfrm>
          <a:prstGeom prst="rect">
            <a:avLst/>
          </a:prstGeom>
          <a:solidFill>
            <a:srgbClr val="F2F4F8"/>
          </a:solidFill>
          <a:ln w="9525">
            <a:solidFill>
              <a:srgbClr val="E4E9F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965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Biz2Bricks platform  ·  v2.0 backend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377440"/>
            <a:ext cx="73152" cy="38404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3774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423160" y="2377440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15 tenant-aware SPA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834640"/>
            <a:ext cx="73152" cy="38404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8346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/ BFF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423160" y="2834640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0.124 · SQLAlchemy 2 async · Pydantic v2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291840"/>
            <a:ext cx="73152" cy="38404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2918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423160" y="3291840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NextAuth + JWT (2h access / 7d refresh)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3749040"/>
            <a:ext cx="73152" cy="38404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7490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423160" y="3749040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Run (stateless, autoscale)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4206240"/>
            <a:ext cx="73152" cy="38404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42062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(today)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423160" y="4206240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DeepAgents · 5 hand-coded subagents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4663440"/>
            <a:ext cx="73152" cy="38404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46634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/ RAG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423160" y="4663440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3 Flash (Vertex AI) + File Search Store per tenant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" y="5120640"/>
            <a:ext cx="73152" cy="38404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51206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423160" y="5120640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SQL (RLS) · GCS bucket prefixes · Memorystore Redis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0080" y="5577840"/>
            <a:ext cx="73152" cy="38404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" y="55778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423160" y="5577840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3-layer: RLS + GCS prefixes + per-tenant File Search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400800" y="1828800"/>
            <a:ext cx="5303520" cy="4389120"/>
          </a:xfrm>
          <a:prstGeom prst="rect">
            <a:avLst/>
          </a:prstGeom>
          <a:solidFill>
            <a:srgbClr val="0A1128"/>
          </a:solidFill>
          <a:ln w="9525">
            <a:solidFill>
              <a:srgbClr val="0A112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583680" y="19659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verticals  ·  equal priority</a:t>
            </a:r>
            <a:endParaRPr lang="en-US" sz="1300" dirty="0"/>
          </a:p>
        </p:txBody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2542032"/>
            <a:ext cx="502920" cy="502920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7315200" y="24688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Food Manufacturing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7315200" y="281635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· HACCP · QC · traceability</a:t>
            </a:r>
            <a:endParaRPr lang="en-US" sz="1100" dirty="0"/>
          </a:p>
        </p:txBody>
      </p:sp>
      <p:pic>
        <p:nvPicPr>
          <p:cNvPr id="3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3410712"/>
            <a:ext cx="502920" cy="502920"/>
          </a:xfrm>
          <a:prstGeom prst="rect">
            <a:avLst/>
          </a:prstGeom>
        </p:spPr>
      </p:pic>
      <p:sp>
        <p:nvSpPr>
          <p:cNvPr id="38" name="Text 34"/>
          <p:cNvSpPr/>
          <p:nvPr/>
        </p:nvSpPr>
        <p:spPr>
          <a:xfrm>
            <a:off x="7315200" y="33375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Recruitment</a:t>
            </a:r>
            <a:endParaRPr lang="en-US" sz="1500" dirty="0"/>
          </a:p>
        </p:txBody>
      </p:sp>
      <p:sp>
        <p:nvSpPr>
          <p:cNvPr id="39" name="Text 35"/>
          <p:cNvSpPr/>
          <p:nvPr/>
        </p:nvSpPr>
        <p:spPr>
          <a:xfrm>
            <a:off x="7315200" y="368503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CVs · JDs · scorecards · compliance</a:t>
            </a:r>
            <a:endParaRPr lang="en-US" sz="1100" dirty="0"/>
          </a:p>
        </p:txBody>
      </p:sp>
      <p:pic>
        <p:nvPicPr>
          <p:cNvPr id="4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4279392"/>
            <a:ext cx="502920" cy="502920"/>
          </a:xfrm>
          <a:prstGeom prst="rect">
            <a:avLst/>
          </a:prstGeom>
        </p:spPr>
      </p:pic>
      <p:sp>
        <p:nvSpPr>
          <p:cNvPr id="41" name="Text 36"/>
          <p:cNvSpPr/>
          <p:nvPr/>
        </p:nvSpPr>
        <p:spPr>
          <a:xfrm>
            <a:off x="7315200" y="42062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Retail</a:t>
            </a:r>
            <a:endParaRPr lang="en-US" sz="1500" dirty="0"/>
          </a:p>
        </p:txBody>
      </p:sp>
      <p:sp>
        <p:nvSpPr>
          <p:cNvPr id="42" name="Text 37"/>
          <p:cNvSpPr/>
          <p:nvPr/>
        </p:nvSpPr>
        <p:spPr>
          <a:xfrm>
            <a:off x="7315200" y="455371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· invoices · inventory · suppliers</a:t>
            </a:r>
            <a:endParaRPr lang="en-US" sz="1100" dirty="0"/>
          </a:p>
        </p:txBody>
      </p:sp>
      <p:pic>
        <p:nvPicPr>
          <p:cNvPr id="4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5148072"/>
            <a:ext cx="502920" cy="502920"/>
          </a:xfrm>
          <a:prstGeom prst="rect">
            <a:avLst/>
          </a:prstGeom>
        </p:spPr>
      </p:pic>
      <p:sp>
        <p:nvSpPr>
          <p:cNvPr id="44" name="Text 38"/>
          <p:cNvSpPr/>
          <p:nvPr/>
        </p:nvSpPr>
        <p:spPr>
          <a:xfrm>
            <a:off x="7315200" y="50749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Estate</a:t>
            </a:r>
            <a:endParaRPr lang="en-US" sz="1500" dirty="0"/>
          </a:p>
        </p:txBody>
      </p:sp>
      <p:sp>
        <p:nvSpPr>
          <p:cNvPr id="45" name="Text 39"/>
          <p:cNvSpPr/>
          <p:nvPr/>
        </p:nvSpPr>
        <p:spPr>
          <a:xfrm>
            <a:off x="7315200" y="542239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Listings · contracts · inspections</a:t>
            </a:r>
            <a:endParaRPr lang="en-US" sz="1100" dirty="0"/>
          </a:p>
        </p:txBody>
      </p:sp>
      <p:sp>
        <p:nvSpPr>
          <p:cNvPr id="46" name="Text 40"/>
          <p:cNvSpPr/>
          <p:nvPr/>
        </p:nvSpPr>
        <p:spPr>
          <a:xfrm>
            <a:off x="6583680" y="58521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Template-driven: one codebase, industry-specific schemas/prompts/dashboards.</a:t>
            </a:r>
            <a:endParaRPr lang="en-US" sz="1000" dirty="0"/>
          </a:p>
        </p:txBody>
      </p:sp>
      <p:sp>
        <p:nvSpPr>
          <p:cNvPr id="47" name="Shape 41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48" name="Text 42"/>
          <p:cNvSpPr/>
          <p:nvPr/>
        </p:nvSpPr>
        <p:spPr>
          <a:xfrm>
            <a:off x="457200" y="65562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Biz2Bricks  ·  Agentic Platform Deep Dive  ·  Confidential</a:t>
            </a:r>
            <a:endParaRPr lang="en-US" sz="900" dirty="0"/>
          </a:p>
        </p:txBody>
      </p:sp>
      <p:sp>
        <p:nvSpPr>
          <p:cNvPr id="49" name="Text 43"/>
          <p:cNvSpPr/>
          <p:nvPr/>
        </p:nvSpPr>
        <p:spPr>
          <a:xfrm>
            <a:off x="10972800" y="655624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73152" cy="32918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STRENGTHS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A11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working — and worth protecting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109728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920240"/>
            <a:ext cx="3657600" cy="2057400"/>
          </a:xfrm>
          <a:prstGeom prst="rect">
            <a:avLst/>
          </a:prstGeom>
          <a:solidFill>
            <a:srgbClr val="FBF9F4"/>
          </a:solidFill>
          <a:ln w="9525">
            <a:solidFill>
              <a:srgbClr val="E4E9F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920240"/>
            <a:ext cx="73152" cy="20574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103120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25880" y="205740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1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Three-layer tenant isolation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85800" y="2788920"/>
            <a:ext cx="3246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RLS · GCS {tenant_id}/ prefixes · per-tenant Gemini File Search Store. Hard to retro-fit once an agent platform exists — we already have it.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297680" y="1920240"/>
            <a:ext cx="3657600" cy="2057400"/>
          </a:xfrm>
          <a:prstGeom prst="rect">
            <a:avLst/>
          </a:prstGeom>
          <a:solidFill>
            <a:srgbClr val="FBF9F4"/>
          </a:solidFill>
          <a:ln w="9525">
            <a:solidFill>
              <a:srgbClr val="E4E9F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297680" y="1920240"/>
            <a:ext cx="73152" cy="20574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2103120"/>
            <a:ext cx="502920" cy="5029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166360" y="205740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1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Domain abstraction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526280" y="2788920"/>
            <a:ext cx="3246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types, schemas and prompts are data, not code. A new vertical is a template bundle, not a new service. Scales to N industries without engineering.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8138160" y="1920240"/>
            <a:ext cx="3657600" cy="2057400"/>
          </a:xfrm>
          <a:prstGeom prst="rect">
            <a:avLst/>
          </a:prstGeom>
          <a:solidFill>
            <a:srgbClr val="FBF9F4"/>
          </a:solidFill>
          <a:ln w="9525">
            <a:solidFill>
              <a:srgbClr val="E4E9F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138160" y="1920240"/>
            <a:ext cx="73152" cy="20574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2103120"/>
            <a:ext cx="502920" cy="5029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006840" y="205740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1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Hybrid query intelligence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8366760" y="2788920"/>
            <a:ext cx="3246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route a single question across SQL and RAG, stream over SSE, cache in Redis, and show both SQL + sources in the UI. This is the raw material for agent actions.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57200" y="4160520"/>
            <a:ext cx="3657600" cy="2057400"/>
          </a:xfrm>
          <a:prstGeom prst="rect">
            <a:avLst/>
          </a:prstGeom>
          <a:solidFill>
            <a:srgbClr val="FBF9F4"/>
          </a:solidFill>
          <a:ln w="9525">
            <a:solidFill>
              <a:srgbClr val="E4E9F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57200" y="4160520"/>
            <a:ext cx="73152" cy="20574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343400"/>
            <a:ext cx="502920" cy="5029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325880" y="42976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1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Clean service boundaries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685800" y="5029200"/>
            <a:ext cx="3246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Facade pattern around documents · non-blocking audit · cache layer · biz2bricks_core shared models. Room to add agents without rewriting.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4297680" y="4160520"/>
            <a:ext cx="3657600" cy="2057400"/>
          </a:xfrm>
          <a:prstGeom prst="rect">
            <a:avLst/>
          </a:prstGeom>
          <a:solidFill>
            <a:srgbClr val="FBF9F4"/>
          </a:solidFill>
          <a:ln w="9525">
            <a:solidFill>
              <a:srgbClr val="E4E9F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297680" y="4160520"/>
            <a:ext cx="73152" cy="20574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6280" y="4343400"/>
            <a:ext cx="502920" cy="50292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166360" y="42976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1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GCP-native, serverless-by-default</a:t>
            </a:r>
            <a:endParaRPr lang="en-US" sz="1400" dirty="0"/>
          </a:p>
        </p:txBody>
      </p:sp>
      <p:sp>
        <p:nvSpPr>
          <p:cNvPr id="30" name="Text 23"/>
          <p:cNvSpPr/>
          <p:nvPr/>
        </p:nvSpPr>
        <p:spPr>
          <a:xfrm>
            <a:off x="4526280" y="5029200"/>
            <a:ext cx="3246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Run autoscale + Cloud SQL + GCS + Pub/Sub + Memorystore — already the right substrate for bursty agent workloads.</a:t>
            </a:r>
            <a:endParaRPr lang="en-US" sz="1100" dirty="0"/>
          </a:p>
        </p:txBody>
      </p:sp>
      <p:sp>
        <p:nvSpPr>
          <p:cNvPr id="31" name="Shape 24"/>
          <p:cNvSpPr/>
          <p:nvPr/>
        </p:nvSpPr>
        <p:spPr>
          <a:xfrm>
            <a:off x="8138160" y="4160520"/>
            <a:ext cx="3657600" cy="2057400"/>
          </a:xfrm>
          <a:prstGeom prst="rect">
            <a:avLst/>
          </a:prstGeom>
          <a:solidFill>
            <a:srgbClr val="FBF9F4"/>
          </a:solidFill>
          <a:ln w="9525">
            <a:solidFill>
              <a:srgbClr val="E4E9F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8138160" y="4160520"/>
            <a:ext cx="73152" cy="20574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6760" y="4343400"/>
            <a:ext cx="502920" cy="50292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9006840" y="42976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1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Observability + audit trail</a:t>
            </a:r>
            <a:endParaRPr lang="en-US" sz="1400" dirty="0"/>
          </a:p>
        </p:txBody>
      </p:sp>
      <p:sp>
        <p:nvSpPr>
          <p:cNvPr id="35" name="Text 27"/>
          <p:cNvSpPr/>
          <p:nvPr/>
        </p:nvSpPr>
        <p:spPr>
          <a:xfrm>
            <a:off x="8366760" y="5029200"/>
            <a:ext cx="3246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AuditLogModel already tracks per-entity events with details JSON. Foundation for agent-run observability is in place.</a:t>
            </a:r>
            <a:endParaRPr lang="en-US" sz="1100" dirty="0"/>
          </a:p>
        </p:txBody>
      </p:sp>
      <p:sp>
        <p:nvSpPr>
          <p:cNvPr id="36" name="Shape 28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37" name="Text 29"/>
          <p:cNvSpPr/>
          <p:nvPr/>
        </p:nvSpPr>
        <p:spPr>
          <a:xfrm>
            <a:off x="457200" y="65562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Biz2Bricks  ·  Agentic Platform Deep Dive  ·  Confidential</a:t>
            </a:r>
            <a:endParaRPr lang="en-US" sz="900" dirty="0"/>
          </a:p>
        </p:txBody>
      </p:sp>
      <p:sp>
        <p:nvSpPr>
          <p:cNvPr id="38" name="Text 30"/>
          <p:cNvSpPr/>
          <p:nvPr/>
        </p:nvSpPr>
        <p:spPr>
          <a:xfrm>
            <a:off x="10972800" y="655624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73152" cy="32918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ANALYSIS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A11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agent era expects that we don't yet do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109728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solidFill>
            <a:srgbClr val="0A1128"/>
          </a:solidFill>
          <a:ln w="12700">
            <a:solidFill>
              <a:srgbClr val="0A11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874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474720" y="1874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 TODAY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11247120" cy="548640"/>
          </a:xfrm>
          <a:prstGeom prst="rect">
            <a:avLst/>
          </a:prstGeom>
          <a:solidFill>
            <a:srgbClr val="F2F4F8"/>
          </a:solidFill>
          <a:ln w="6350">
            <a:solidFill>
              <a:srgbClr val="E4E9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286000"/>
            <a:ext cx="73152" cy="54864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2860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engineers can build agents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74720" y="228600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Hard-coded Python subagents per vertical; no tenant-configurable agents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834640"/>
            <a:ext cx="112471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4E9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834640"/>
            <a:ext cx="73152" cy="54864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8346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tool / action registry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74720" y="28346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are @tool decorators — not discoverable, not per-tenant permissioned, no MCP support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383280"/>
            <a:ext cx="11247120" cy="548640"/>
          </a:xfrm>
          <a:prstGeom prst="rect">
            <a:avLst/>
          </a:prstGeom>
          <a:solidFill>
            <a:srgbClr val="F2F4F8"/>
          </a:solidFill>
          <a:ln w="6350">
            <a:solidFill>
              <a:srgbClr val="E4E9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383280"/>
            <a:ext cx="73152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3832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memory abstraction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474720" y="338328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have per-request context only — no episodic, semantic, skill, or personal-graph memory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931920"/>
            <a:ext cx="112471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4E9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931920"/>
            <a:ext cx="73152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9319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multi-trigger surface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474720" y="393192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Webhook-ish only; missing chat, form, scheduled, event (file uploaded / row changed) triggers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480560"/>
            <a:ext cx="11247120" cy="548640"/>
          </a:xfrm>
          <a:prstGeom prst="rect">
            <a:avLst/>
          </a:prstGeom>
          <a:solidFill>
            <a:srgbClr val="F2F4F8"/>
          </a:solidFill>
          <a:ln w="6350">
            <a:solidFill>
              <a:srgbClr val="E4E9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4480560"/>
            <a:ext cx="73152" cy="54864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44805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eval / trajectory loop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474720" y="448056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can't show a customer that an agent passes a golden dataset before they turn it 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5029200"/>
            <a:ext cx="112471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4E9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5029200"/>
            <a:ext cx="73152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50292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agent library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474720" y="502920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tenant re-discovers patterns that should ship as templates by department / vertical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5577840"/>
            <a:ext cx="11247120" cy="548640"/>
          </a:xfrm>
          <a:prstGeom prst="rect">
            <a:avLst/>
          </a:prstGeom>
          <a:solidFill>
            <a:srgbClr val="F2F4F8"/>
          </a:solidFill>
          <a:ln w="6350">
            <a:solidFill>
              <a:srgbClr val="E4E9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" y="5577840"/>
            <a:ext cx="73152" cy="54864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55778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governance UX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474720" y="55778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approvals, sensitivity labels, least-privilege per tool, spend caps — all missing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7200" y="6126480"/>
            <a:ext cx="112471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4E9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57200" y="6126480"/>
            <a:ext cx="73152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deployment surface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474720" y="612648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Slack / Teams / MS-Word / Chrome embeds. Agents die at the API boundary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65562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Biz2Bricks  ·  Agentic Platform Deep Dive  ·  Confidential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0972800" y="655624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73152" cy="32918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SHIFT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RAG chatbots to autonomous agents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109728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28800"/>
            <a:ext cx="5303520" cy="4389120"/>
          </a:xfrm>
          <a:prstGeom prst="rect">
            <a:avLst/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0116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2024 — The RAG era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56032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chat box over one knowledge base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still click between systems to act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Per-seat $20–30/mo, low differentiation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were features inside Slack / M365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= “does it hallucinate?”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0" y="1828800"/>
            <a:ext cx="5303520" cy="4389120"/>
          </a:xfrm>
          <a:prstGeom prst="rect">
            <a:avLst/>
          </a:prstGeom>
          <a:solidFill>
            <a:srgbClr val="F4A261"/>
          </a:solidFill>
          <a:ln w="9525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83680" y="20116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1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 — The agent era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675120" y="256032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span many systems + take actions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is now the universal tool protocol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Usage-metered pricing ($/run, $/token, credits)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Builders live inside the platform, not just IT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= multi-turn trajectory + outcome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was donated to the Linux Foundation in Dec 2025 — 75+ connectors already shipping. Every major platform (Glean, Copilot, Writer, Moveworks) now supports it.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73152" cy="32918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A11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we're actually up against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109728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74520"/>
            <a:ext cx="1737360" cy="411480"/>
          </a:xfrm>
          <a:prstGeom prst="rect">
            <a:avLst/>
          </a:prstGeom>
          <a:solidFill>
            <a:srgbClr val="0A1128"/>
          </a:solidFill>
          <a:ln w="12700">
            <a:solidFill>
              <a:srgbClr val="0A11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8745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194560" y="1874520"/>
            <a:ext cx="3474720" cy="411480"/>
          </a:xfrm>
          <a:prstGeom prst="rect">
            <a:avLst/>
          </a:prstGeom>
          <a:solidFill>
            <a:srgbClr val="0A1128"/>
          </a:solidFill>
          <a:ln w="12700">
            <a:solidFill>
              <a:srgbClr val="0A11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31720" y="18745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669280" y="1874520"/>
            <a:ext cx="2377440" cy="411480"/>
          </a:xfrm>
          <a:prstGeom prst="rect">
            <a:avLst/>
          </a:prstGeom>
          <a:solidFill>
            <a:srgbClr val="0A1128"/>
          </a:solidFill>
          <a:ln w="12700">
            <a:solidFill>
              <a:srgbClr val="0A11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06440" y="18745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ECOSYSTEM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046720" y="1874520"/>
            <a:ext cx="3657600" cy="411480"/>
          </a:xfrm>
          <a:prstGeom prst="rect">
            <a:avLst/>
          </a:prstGeom>
          <a:solidFill>
            <a:srgbClr val="0A1128"/>
          </a:solidFill>
          <a:ln w="12700">
            <a:solidFill>
              <a:srgbClr val="0A11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83880" y="18745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SIGNAL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286000"/>
            <a:ext cx="1737360" cy="658368"/>
          </a:xfrm>
          <a:prstGeom prst="rect">
            <a:avLst/>
          </a:prstGeom>
          <a:solidFill>
            <a:srgbClr val="F2F4F8"/>
          </a:solidFill>
          <a:ln w="6350">
            <a:solidFill>
              <a:srgbClr val="E4E9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28600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Glean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194560" y="2286000"/>
            <a:ext cx="3474720" cy="658368"/>
          </a:xfrm>
          <a:prstGeom prst="rect">
            <a:avLst/>
          </a:prstGeom>
          <a:solidFill>
            <a:srgbClr val="F2F4F8"/>
          </a:solidFill>
          <a:ln w="6350">
            <a:solidFill>
              <a:srgbClr val="E4E9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31720" y="2286000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search + no-code agent builder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669280" y="2286000"/>
            <a:ext cx="2377440" cy="658368"/>
          </a:xfrm>
          <a:prstGeom prst="rect">
            <a:avLst/>
          </a:prstGeom>
          <a:solidFill>
            <a:srgbClr val="F2F4F8"/>
          </a:solidFill>
          <a:ln w="6350">
            <a:solidFill>
              <a:srgbClr val="E4E9F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06440" y="228600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 native + MCP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046720" y="2286000"/>
            <a:ext cx="3657600" cy="658368"/>
          </a:xfrm>
          <a:prstGeom prst="rect">
            <a:avLst/>
          </a:prstGeom>
          <a:solidFill>
            <a:srgbClr val="F2F4F8"/>
          </a:solidFill>
          <a:ln w="6350">
            <a:solidFill>
              <a:srgbClr val="E4E9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83880" y="2286000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~$50/user/mo (100-seat min) + $15/agent add-on; ~$60K/yr floor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2944368"/>
            <a:ext cx="17373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4E9F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2944368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Copilot Studio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194560" y="2944368"/>
            <a:ext cx="34747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4E9F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331720" y="2944368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M365-native agent builder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669280" y="2944368"/>
            <a:ext cx="23774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4E9F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06440" y="2944368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Graph + MCP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046720" y="2944368"/>
            <a:ext cx="36576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4E9F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83880" y="2944368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$200 / 25K credits  ·  $30/user M365 Copilot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3602736"/>
            <a:ext cx="1737360" cy="658368"/>
          </a:xfrm>
          <a:prstGeom prst="rect">
            <a:avLst/>
          </a:prstGeom>
          <a:solidFill>
            <a:srgbClr val="F2F4F8"/>
          </a:solidFill>
          <a:ln w="6350">
            <a:solidFill>
              <a:srgbClr val="E4E9F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3602736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 AI Studio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194560" y="3602736"/>
            <a:ext cx="3474720" cy="658368"/>
          </a:xfrm>
          <a:prstGeom prst="rect">
            <a:avLst/>
          </a:prstGeom>
          <a:solidFill>
            <a:srgbClr val="F2F4F8"/>
          </a:solidFill>
          <a:ln w="6350">
            <a:solidFill>
              <a:srgbClr val="E4E9F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331720" y="3602736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Brand-safe content + Playbook workflows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669280" y="3602736"/>
            <a:ext cx="2377440" cy="658368"/>
          </a:xfrm>
          <a:prstGeom prst="rect">
            <a:avLst/>
          </a:prstGeom>
          <a:solidFill>
            <a:srgbClr val="F2F4F8"/>
          </a:solidFill>
          <a:ln w="6350">
            <a:solidFill>
              <a:srgbClr val="E4E9F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06440" y="3602736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 connectors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046720" y="3602736"/>
            <a:ext cx="3657600" cy="658368"/>
          </a:xfrm>
          <a:prstGeom prst="rect">
            <a:avLst/>
          </a:prstGeom>
          <a:solidFill>
            <a:srgbClr val="F2F4F8"/>
          </a:solidFill>
          <a:ln w="6350">
            <a:solidFill>
              <a:srgbClr val="E4E9F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183880" y="3602736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~$1K–$3K/mo for SMB tier, enterprise custom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57200" y="4261104"/>
            <a:ext cx="17373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4E9F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94360" y="4261104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Moveworks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194560" y="4261104"/>
            <a:ext cx="34747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4E9F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331720" y="4261104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/ employee self-service agents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669280" y="4261104"/>
            <a:ext cx="23774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4E9F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806440" y="4261104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ITSM + enterprise apps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8046720" y="4261104"/>
            <a:ext cx="36576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4E9F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183880" y="4261104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Enterprise-only, seat-based, typically 6-figure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57200" y="4919472"/>
            <a:ext cx="1737360" cy="658368"/>
          </a:xfrm>
          <a:prstGeom prst="rect">
            <a:avLst/>
          </a:prstGeom>
          <a:solidFill>
            <a:srgbClr val="F2F4F8"/>
          </a:solidFill>
          <a:ln w="6350">
            <a:solidFill>
              <a:srgbClr val="E4E9F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94360" y="4919472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Platform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2194560" y="4919472"/>
            <a:ext cx="3474720" cy="658368"/>
          </a:xfrm>
          <a:prstGeom prst="rect">
            <a:avLst/>
          </a:prstGeom>
          <a:solidFill>
            <a:srgbClr val="F2F4F8"/>
          </a:solidFill>
          <a:ln w="6350">
            <a:solidFill>
              <a:srgbClr val="E4E9F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331720" y="4919472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framework + managed runtime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5669280" y="4919472"/>
            <a:ext cx="2377440" cy="658368"/>
          </a:xfrm>
          <a:prstGeom prst="rect">
            <a:avLst/>
          </a:prstGeom>
          <a:solidFill>
            <a:srgbClr val="F2F4F8"/>
          </a:solidFill>
          <a:ln w="6350">
            <a:solidFill>
              <a:srgbClr val="E4E9F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806440" y="4919472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BYO tools / any MCP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8046720" y="4919472"/>
            <a:ext cx="3657600" cy="658368"/>
          </a:xfrm>
          <a:prstGeom prst="rect">
            <a:avLst/>
          </a:prstGeom>
          <a:solidFill>
            <a:srgbClr val="F2F4F8"/>
          </a:solidFill>
          <a:ln w="6350">
            <a:solidFill>
              <a:srgbClr val="E4E9F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183880" y="4919472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Consumption-based · for builders, not end-users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457200" y="5577840"/>
            <a:ext cx="1737360" cy="658368"/>
          </a:xfrm>
          <a:prstGeom prst="rect">
            <a:avLst/>
          </a:prstGeom>
          <a:solidFill>
            <a:srgbClr val="F4A261"/>
          </a:solidFill>
          <a:ln w="6350">
            <a:solidFill>
              <a:srgbClr val="E4E9F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94360" y="557784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Biz2Bricks (us)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2194560" y="5577840"/>
            <a:ext cx="3474720" cy="658368"/>
          </a:xfrm>
          <a:prstGeom prst="rect">
            <a:avLst/>
          </a:prstGeom>
          <a:solidFill>
            <a:srgbClr val="F4A261"/>
          </a:solidFill>
          <a:ln w="6350">
            <a:solidFill>
              <a:srgbClr val="E4E9F2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331720" y="5577840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SMB document intelligence → + agents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5669280" y="5577840"/>
            <a:ext cx="2377440" cy="658368"/>
          </a:xfrm>
          <a:prstGeom prst="rect">
            <a:avLst/>
          </a:prstGeom>
          <a:solidFill>
            <a:srgbClr val="F4A261"/>
          </a:solidFill>
          <a:ln w="6350">
            <a:solidFill>
              <a:srgbClr val="E4E9F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806440" y="557784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Per-vertical templates + MCP (planned)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8046720" y="5577840"/>
            <a:ext cx="3657600" cy="658368"/>
          </a:xfrm>
          <a:prstGeom prst="rect">
            <a:avLst/>
          </a:prstGeom>
          <a:solidFill>
            <a:srgbClr val="F4A261"/>
          </a:solidFill>
          <a:ln w="6350">
            <a:solidFill>
              <a:srgbClr val="E4E9F2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183880" y="5577840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$199 – $1,999 / mo  ·  metered overage (planned)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457200" y="6464808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Glean, Copilot Studio and Moveworks all chase F500. Writer owns marketing/CX. Nobody has a vertical-packaged SMB agent platform — that's our lane.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57200" y="65562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Biz2Bricks  ·  Agentic Platform Deep Dive  ·  Confidential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10972800" y="655624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73152" cy="32918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SHOULD PLAY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A11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SMB × vertical agent gap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109728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0" y="1828800"/>
            <a:ext cx="3429000" cy="2194560"/>
          </a:xfrm>
          <a:prstGeom prst="rect">
            <a:avLst/>
          </a:prstGeom>
          <a:solidFill>
            <a:srgbClr val="F2F4F8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00600" y="1828800"/>
            <a:ext cx="3429000" cy="2194560"/>
          </a:xfrm>
          <a:prstGeom prst="rect">
            <a:avLst/>
          </a:prstGeom>
          <a:solidFill>
            <a:srgbClr val="FBF9F4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71600" y="4023360"/>
            <a:ext cx="3429000" cy="2194560"/>
          </a:xfrm>
          <a:prstGeom prst="rect">
            <a:avLst/>
          </a:prstGeom>
          <a:solidFill>
            <a:srgbClr val="FBF9F4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00600" y="4023360"/>
            <a:ext cx="3429000" cy="21945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0" y="4023360"/>
            <a:ext cx="685800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00600" y="1828800"/>
            <a:ext cx="0" cy="438912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71600" y="150876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 (one-size-fits-all)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00600" y="150876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 (industry-packaged)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21945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" y="55778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SMB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508760" y="192024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Glean · Moveworks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Copilot Studio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508760" y="274320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today, but anchored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$60K+/yr contracts.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37760" y="192024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Writer AI Studio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Vertical point solutions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274320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Vertical-flavored but enterprise-priced;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procurement-heavy.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508760" y="411480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n8n, Zapier AI, MindStudio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Generic no-code agent tools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508760" y="493776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Cheap, but empty boxes — SMBs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need to define the schemas.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37760" y="416052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1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BIZ2BRICKS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937760" y="48006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A11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SMB × vertical agents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37760" y="521208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Pre-built agent packs per industry.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Self-serve from $199/mo.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503920" y="1828800"/>
            <a:ext cx="3200400" cy="4389120"/>
          </a:xfrm>
          <a:prstGeom prst="rect">
            <a:avLst/>
          </a:prstGeom>
          <a:solidFill>
            <a:srgbClr val="0A1128"/>
          </a:solidFill>
          <a:ln w="9525">
            <a:solidFill>
              <a:srgbClr val="0A112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686800" y="19659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gap exists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686800" y="2423160"/>
            <a:ext cx="28346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vendors can't profitably serve sub-$10K/yr customers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no-code tools skip the hard part: domain schemas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Industry-specific SaaS rarely adds generic agent layers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SMBs buy outcomes, not AI platforms — packaged templates win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65562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Biz2Bricks  ·  Agentic Platform Deep Dive  ·  Confidential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72800" y="655624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73152" cy="32918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A11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Biz2Bricks Agentic Business Platform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109728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28800"/>
            <a:ext cx="11247120" cy="1097280"/>
          </a:xfrm>
          <a:prstGeom prst="rect">
            <a:avLst/>
          </a:prstGeom>
          <a:solidFill>
            <a:srgbClr val="0A1128"/>
          </a:solidFill>
          <a:ln w="9525">
            <a:solidFill>
              <a:srgbClr val="0A112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87452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SMB runs their business on their documents.  </a:t>
            </a:r>
            <a:pPr indent="0" marL="0">
              <a:buNone/>
            </a:pPr>
            <a:r>
              <a:rPr lang="en-US" sz="1600" b="1" i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We'll turn those documents into a team of agents that read, decide, and act — grounded in that SMB's own data.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3200400"/>
            <a:ext cx="3657600" cy="3017520"/>
          </a:xfrm>
          <a:prstGeom prst="rect">
            <a:avLst/>
          </a:prstGeom>
          <a:solidFill>
            <a:srgbClr val="FBF9F4"/>
          </a:solidFill>
          <a:ln w="9525">
            <a:solidFill>
              <a:srgbClr val="E4E9F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3200400"/>
            <a:ext cx="73152" cy="30175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474720"/>
            <a:ext cx="731520" cy="7315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31520" y="42976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1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No-code builder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731520" y="484632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Drag-and-drop canvas with triggers · steps · actions · flow · memory. Business users build, engineers enable.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297680" y="3200400"/>
            <a:ext cx="3657600" cy="3017520"/>
          </a:xfrm>
          <a:prstGeom prst="rect">
            <a:avLst/>
          </a:prstGeom>
          <a:solidFill>
            <a:srgbClr val="FBF9F4"/>
          </a:solidFill>
          <a:ln w="9525">
            <a:solidFill>
              <a:srgbClr val="E4E9F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297680" y="3200400"/>
            <a:ext cx="73152" cy="301752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3474720"/>
            <a:ext cx="731520" cy="7315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572000" y="42976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1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Multi-agent by design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4572000" y="484632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Single-agent for 80% of cases, sub-agents + orchestrator for long-horizon workflows. LangGraph runtime.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8138160" y="3200400"/>
            <a:ext cx="3657600" cy="3017520"/>
          </a:xfrm>
          <a:prstGeom prst="rect">
            <a:avLst/>
          </a:prstGeom>
          <a:solidFill>
            <a:srgbClr val="FBF9F4"/>
          </a:solidFill>
          <a:ln w="9525">
            <a:solidFill>
              <a:srgbClr val="E4E9F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138160" y="3200400"/>
            <a:ext cx="73152" cy="3017520"/>
          </a:xfrm>
          <a:prstGeom prst="rect">
            <a:avLst/>
          </a:prstGeom>
          <a:solidFill>
            <a:srgbClr val="3E4D89"/>
          </a:solidFill>
          <a:ln w="12700">
            <a:solidFill>
              <a:srgbClr val="3E4D89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3474720"/>
            <a:ext cx="731520" cy="7315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412480" y="42976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1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Tenant-safe by default</a:t>
            </a:r>
            <a:endParaRPr lang="en-US" sz="1700" dirty="0"/>
          </a:p>
        </p:txBody>
      </p:sp>
      <p:sp>
        <p:nvSpPr>
          <p:cNvPr id="22" name="Text 17"/>
          <p:cNvSpPr/>
          <p:nvPr/>
        </p:nvSpPr>
        <p:spPr>
          <a:xfrm>
            <a:off x="8412480" y="484632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 run inherits our RLS, GCS, and File-Search isolation. Governance shipped with the primitives.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457200" y="65562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Biz2Bricks  ·  Agentic Platform Deep Dive  ·  Confidential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10972800" y="655624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73152" cy="32918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BUILDER PRIMITIVES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A11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six concepts we copy (respectfully) from Glean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109728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920240"/>
            <a:ext cx="365760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9F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920240"/>
            <a:ext cx="73152" cy="20574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103120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25880" y="205740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1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Triggers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85800" y="2788920"/>
            <a:ext cx="3246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Chat, form, webhook, scheduled (Cloud Scheduler), event (GCS upload, SQL row change), Slack/Teams @mention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297680" y="1920240"/>
            <a:ext cx="365760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9F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297680" y="1920240"/>
            <a:ext cx="73152" cy="20574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2103120"/>
            <a:ext cx="502920" cy="5029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166360" y="205740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1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Steps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4526280" y="2788920"/>
            <a:ext cx="3246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 units of work; each can read prior outputs, call tools, or delegate to a sub-agent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8138160" y="1920240"/>
            <a:ext cx="365760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9F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138160" y="1920240"/>
            <a:ext cx="73152" cy="20574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2103120"/>
            <a:ext cx="502920" cy="5029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006840" y="205740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1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Actions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8366760" y="2788920"/>
            <a:ext cx="3246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operations: extract, classify, RAG query, SQL query, call API, write DB, generate PDF, send email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57200" y="4160520"/>
            <a:ext cx="365760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9F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57200" y="4160520"/>
            <a:ext cx="73152" cy="20574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343400"/>
            <a:ext cx="502920" cy="5029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325880" y="42976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1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Flow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685800" y="5029200"/>
            <a:ext cx="3246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Branching DAG; conditions evaluated by Gemini on step outputs. Loops with bounded retries.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4297680" y="4160520"/>
            <a:ext cx="365760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9F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297680" y="4160520"/>
            <a:ext cx="73152" cy="20574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6280" y="4343400"/>
            <a:ext cx="502920" cy="50292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166360" y="42976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1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Memory</a:t>
            </a:r>
            <a:endParaRPr lang="en-US" sz="1500" dirty="0"/>
          </a:p>
        </p:txBody>
      </p:sp>
      <p:sp>
        <p:nvSpPr>
          <p:cNvPr id="30" name="Text 23"/>
          <p:cNvSpPr/>
          <p:nvPr/>
        </p:nvSpPr>
        <p:spPr>
          <a:xfrm>
            <a:off x="4526280" y="5029200"/>
            <a:ext cx="3246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scratchpad · episodic (past runs) · semantic (File Search) · skill (reusable capabilities)</a:t>
            </a:r>
            <a:endParaRPr lang="en-US" sz="1100" dirty="0"/>
          </a:p>
        </p:txBody>
      </p:sp>
      <p:sp>
        <p:nvSpPr>
          <p:cNvPr id="31" name="Shape 24"/>
          <p:cNvSpPr/>
          <p:nvPr/>
        </p:nvSpPr>
        <p:spPr>
          <a:xfrm>
            <a:off x="8138160" y="4160520"/>
            <a:ext cx="365760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9F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8138160" y="4160520"/>
            <a:ext cx="73152" cy="20574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6760" y="4343400"/>
            <a:ext cx="502920" cy="50292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9006840" y="42976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1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Sub-agents</a:t>
            </a:r>
            <a:endParaRPr lang="en-US" sz="1500" dirty="0"/>
          </a:p>
        </p:txBody>
      </p:sp>
      <p:sp>
        <p:nvSpPr>
          <p:cNvPr id="35" name="Text 27"/>
          <p:cNvSpPr/>
          <p:nvPr/>
        </p:nvSpPr>
        <p:spPr>
          <a:xfrm>
            <a:off x="8366760" y="5029200"/>
            <a:ext cx="3246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 agents called as a step; own memory; return focused summary to parent. Our 5 food-vertical agents become v1 sub-agents.</a:t>
            </a:r>
            <a:endParaRPr lang="en-US" sz="1100" dirty="0"/>
          </a:p>
        </p:txBody>
      </p:sp>
      <p:sp>
        <p:nvSpPr>
          <p:cNvPr id="36" name="Text 28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Glean validated these primitives with F500. We port them down-market with vertical defaults pre-filled.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73152" cy="32918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A11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 services layered on what we already run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109728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783080"/>
            <a:ext cx="2011680" cy="93268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783080"/>
            <a:ext cx="18288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SURFACES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06040" y="1783080"/>
            <a:ext cx="1731874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97480" y="1874520"/>
            <a:ext cx="15489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Canvas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697480" y="2221992"/>
            <a:ext cx="154899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Drag-drop builder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447642" y="1783080"/>
            <a:ext cx="1731874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39082" y="1874520"/>
            <a:ext cx="15489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/ Teams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39082" y="2221992"/>
            <a:ext cx="154899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+ slash-cmds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289243" y="1783080"/>
            <a:ext cx="1731874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80683" y="1874520"/>
            <a:ext cx="15489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Word add-in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80683" y="2221992"/>
            <a:ext cx="154899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in the editor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130845" y="1783080"/>
            <a:ext cx="1731874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2285" y="1874520"/>
            <a:ext cx="15489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ext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2285" y="2221992"/>
            <a:ext cx="154899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agent actions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972446" y="1783080"/>
            <a:ext cx="1731874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63886" y="1874520"/>
            <a:ext cx="15489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API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063886" y="2221992"/>
            <a:ext cx="154899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Programmatic runs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2825496"/>
            <a:ext cx="2011680" cy="93268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2825496"/>
            <a:ext cx="18288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PLATFORM (new)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606040" y="2825496"/>
            <a:ext cx="1731874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97480" y="2916936"/>
            <a:ext cx="15489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Service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697480" y="3264408"/>
            <a:ext cx="154899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/ version agents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447642" y="2825496"/>
            <a:ext cx="1731874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39082" y="2916936"/>
            <a:ext cx="15489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(LangGraph)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39082" y="3264408"/>
            <a:ext cx="154899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Checkpointed execution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289243" y="2825496"/>
            <a:ext cx="1731874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80683" y="2916936"/>
            <a:ext cx="15489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Registry + MCP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380683" y="3264408"/>
            <a:ext cx="154899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Per-tenant permissions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8130845" y="2825496"/>
            <a:ext cx="1731874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22285" y="2916936"/>
            <a:ext cx="15489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Service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222285" y="3264408"/>
            <a:ext cx="154899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Episodic · semantic · skill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9972446" y="2825496"/>
            <a:ext cx="1731874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063886" y="2916936"/>
            <a:ext cx="15489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/ Observability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0063886" y="3264408"/>
            <a:ext cx="154899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Trajectory scoring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57200" y="3867912"/>
            <a:ext cx="2011680" cy="932688"/>
          </a:xfrm>
          <a:prstGeom prst="rect">
            <a:avLst/>
          </a:prstGeom>
          <a:solidFill>
            <a:srgbClr val="3E4D89"/>
          </a:solidFill>
          <a:ln w="12700">
            <a:solidFill>
              <a:srgbClr val="3E4D8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94360" y="3867912"/>
            <a:ext cx="18288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PLATFORM CORE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606040" y="3867912"/>
            <a:ext cx="1731874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3E4D8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697480" y="3959352"/>
            <a:ext cx="15489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BFF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2697480" y="4306824"/>
            <a:ext cx="154899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· audit · cache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447642" y="3867912"/>
            <a:ext cx="1731874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3E4D8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39082" y="3959352"/>
            <a:ext cx="15489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Service (facade)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539082" y="4306824"/>
            <a:ext cx="154899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· query · store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289243" y="3867912"/>
            <a:ext cx="1731874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3E4D8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80683" y="3959352"/>
            <a:ext cx="15489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Query Router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380683" y="4306824"/>
            <a:ext cx="154899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+ RAG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8130845" y="3867912"/>
            <a:ext cx="1731874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3E4D8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222285" y="3959352"/>
            <a:ext cx="15489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Service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8222285" y="4306824"/>
            <a:ext cx="154899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Non-blocking logs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9972446" y="3867912"/>
            <a:ext cx="1731874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3E4D8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0063886" y="3959352"/>
            <a:ext cx="15489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Enforcement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10063886" y="4306824"/>
            <a:ext cx="154899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 + metering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457200" y="4910328"/>
            <a:ext cx="2011680" cy="93268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94360" y="4910328"/>
            <a:ext cx="18288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+ INFRA (GCP)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2606040" y="4910328"/>
            <a:ext cx="1731874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697480" y="5001768"/>
            <a:ext cx="15489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SQL + RLS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2697480" y="5349240"/>
            <a:ext cx="154899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tenant_id enforced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4447642" y="4910328"/>
            <a:ext cx="1731874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539082" y="5001768"/>
            <a:ext cx="15489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GCS (tenant prefix)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4539082" y="5349240"/>
            <a:ext cx="154899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+ parsed docs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6289243" y="4910328"/>
            <a:ext cx="1731874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380683" y="5001768"/>
            <a:ext cx="15489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+ File Search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6380683" y="5349240"/>
            <a:ext cx="154899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+ per-tenant RAG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8130845" y="4910328"/>
            <a:ext cx="1731874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222285" y="5001768"/>
            <a:ext cx="15489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Memorystore Redis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8222285" y="5349240"/>
            <a:ext cx="154899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+ checkpoints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9972446" y="4910328"/>
            <a:ext cx="1731874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0063886" y="5001768"/>
            <a:ext cx="15489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Pub/Sub + Scheduler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10063886" y="5349240"/>
            <a:ext cx="154899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triggers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457200" y="6044184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AGENT PLATFORM row is net-new build. Everything below it already exists in production.</a:t>
            </a:r>
            <a:endParaRPr lang="en-US" sz="1200" dirty="0"/>
          </a:p>
        </p:txBody>
      </p:sp>
      <p:sp>
        <p:nvSpPr>
          <p:cNvPr id="75" name="Shape 73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57200" y="65562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Biz2Bricks  ·  Agentic Platform Deep Dive  ·  Confidential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10972800" y="655624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73152" cy="32918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REGISTRY + MCP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A11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integration moat (and why MCP changes the math)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109728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28800"/>
            <a:ext cx="5943600" cy="4389120"/>
          </a:xfrm>
          <a:prstGeom prst="rect">
            <a:avLst/>
          </a:prstGeom>
          <a:solidFill>
            <a:srgbClr val="F2F4F8"/>
          </a:solidFill>
          <a:ln w="9525">
            <a:solidFill>
              <a:srgbClr val="E4E9F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96596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sources of tools, one catalog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2468880"/>
            <a:ext cx="54864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4E9F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85800" y="2468880"/>
            <a:ext cx="73152" cy="10058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57860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1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Native (we ship)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294436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· RAG · SQL · Generate PDF · Notify · CRUD on entities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" y="3611880"/>
            <a:ext cx="54864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4E9F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85800" y="3611880"/>
            <a:ext cx="73152" cy="100584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72160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1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MCP (customer's stack)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8680" y="408736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· HubSpot · Xero · QuickBooks · Jira · Slack · GitHub — any MCP server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" y="4754880"/>
            <a:ext cx="54864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4E9F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5800" y="4754880"/>
            <a:ext cx="73152" cy="1005840"/>
          </a:xfrm>
          <a:prstGeom prst="rect">
            <a:avLst/>
          </a:prstGeom>
          <a:solidFill>
            <a:srgbClr val="3E4D89"/>
          </a:solidFill>
          <a:ln w="12700">
            <a:solidFill>
              <a:srgbClr val="3E4D8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486460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1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 (tenant-defined)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68680" y="523036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endpoint + JSON schema · Python scriptlets in a sandbox · saved SQL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800" y="5943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tool has a JSON schema, a runtime type, a per-tenant permission grant, and audit. Agents only see the subset their org has approved.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675120" y="1828800"/>
            <a:ext cx="5029200" cy="4389120"/>
          </a:xfrm>
          <a:prstGeom prst="rect">
            <a:avLst/>
          </a:prstGeom>
          <a:solidFill>
            <a:srgbClr val="0A1128"/>
          </a:solidFill>
          <a:ln w="9525">
            <a:solidFill>
              <a:srgbClr val="0A112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858000" y="19659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leverage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858000" y="2468880"/>
            <a:ext cx="73152" cy="8229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40880" y="246888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integration footprint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040880" y="2798064"/>
            <a:ext cx="4480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the 75+ MCP servers ecosystem; we don't build 75 connectors.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858000" y="3383280"/>
            <a:ext cx="73152" cy="8229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40880" y="338328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lock-in from the right side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040880" y="3712464"/>
            <a:ext cx="4480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bring their tools, we bring the tenant-isolated runtime + memory.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858000" y="4297680"/>
            <a:ext cx="73152" cy="8229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40880" y="429768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tool packs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040880" y="4626864"/>
            <a:ext cx="4480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a Food Ops pack (ERP, HACCP, sensors), Recruitment pack (ATS, LinkedIn), etc.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858000" y="5212080"/>
            <a:ext cx="73152" cy="8229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040880" y="521208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baked in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040880" y="5541264"/>
            <a:ext cx="4480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+ consent model identical to OAuth — one UX for all integrations.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65562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Biz2Bricks  ·  Agentic Platform Deep Dive  ·  Confidential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972800" y="655624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73152" cy="32918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&amp; SKILLS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A11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the second run of an agent should be smarter than the first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109728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74520"/>
            <a:ext cx="5577840" cy="2011680"/>
          </a:xfrm>
          <a:prstGeom prst="rect">
            <a:avLst/>
          </a:prstGeom>
          <a:solidFill>
            <a:srgbClr val="FBF9F4"/>
          </a:solidFill>
          <a:ln w="9525">
            <a:solidFill>
              <a:srgbClr val="E4E9F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874520"/>
            <a:ext cx="73152" cy="20116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148840"/>
            <a:ext cx="640080" cy="6400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08760" y="210312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1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Short-term (step)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508760" y="2697480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outputs of prior steps in the same run. Redis-backed LangGraph checkpoint.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217920" y="1874520"/>
            <a:ext cx="5577840" cy="2011680"/>
          </a:xfrm>
          <a:prstGeom prst="rect">
            <a:avLst/>
          </a:prstGeom>
          <a:solidFill>
            <a:srgbClr val="FBF9F4"/>
          </a:solidFill>
          <a:ln w="9525">
            <a:solidFill>
              <a:srgbClr val="E4E9F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217920" y="1874520"/>
            <a:ext cx="73152" cy="201168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148840"/>
            <a:ext cx="640080" cy="6400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69480" y="210312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1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Episodic (runs)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7269480" y="2697480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agent runs + outcomes per tenant. Used to ground decisions and explain behaviour.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57200" y="4069080"/>
            <a:ext cx="5577840" cy="2011680"/>
          </a:xfrm>
          <a:prstGeom prst="rect">
            <a:avLst/>
          </a:prstGeom>
          <a:solidFill>
            <a:srgbClr val="FBF9F4"/>
          </a:solidFill>
          <a:ln w="9525">
            <a:solidFill>
              <a:srgbClr val="E4E9F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57200" y="4069080"/>
            <a:ext cx="73152" cy="2011680"/>
          </a:xfrm>
          <a:prstGeom prst="rect">
            <a:avLst/>
          </a:prstGeom>
          <a:solidFill>
            <a:srgbClr val="3E4D89"/>
          </a:solidFill>
          <a:ln w="12700">
            <a:solidFill>
              <a:srgbClr val="3E4D89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343400"/>
            <a:ext cx="640080" cy="6400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508760" y="429768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1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Semantic (RAG)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1508760" y="4892040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Per-tenant Gemini File Search Store — SOPs, contracts, handbooks. Already live.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6217920" y="4069080"/>
            <a:ext cx="5577840" cy="2011680"/>
          </a:xfrm>
          <a:prstGeom prst="rect">
            <a:avLst/>
          </a:prstGeom>
          <a:solidFill>
            <a:srgbClr val="FBF9F4"/>
          </a:solidFill>
          <a:ln w="9525">
            <a:solidFill>
              <a:srgbClr val="E4E9F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217920" y="4069080"/>
            <a:ext cx="73152" cy="201168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4343400"/>
            <a:ext cx="640080" cy="64008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269480" y="429768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1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 (reusable)</a:t>
            </a:r>
            <a:endParaRPr lang="en-US" sz="1700" dirty="0"/>
          </a:p>
        </p:txBody>
      </p:sp>
      <p:sp>
        <p:nvSpPr>
          <p:cNvPr id="25" name="Text 19"/>
          <p:cNvSpPr/>
          <p:nvPr/>
        </p:nvSpPr>
        <p:spPr>
          <a:xfrm>
            <a:off x="7269480" y="4892040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mini-agents / tool compositions that any agent can call. Powered by our self-evolving agent research.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457200" y="6263640"/>
            <a:ext cx="11247120" cy="365760"/>
          </a:xfrm>
          <a:prstGeom prst="rect">
            <a:avLst/>
          </a:prstGeom>
          <a:solidFill>
            <a:srgbClr val="0A1128"/>
          </a:solidFill>
          <a:ln w="9525">
            <a:solidFill>
              <a:srgbClr val="0A112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7" name="Text 21"/>
          <p:cNvSpPr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R&amp;D: self_evolving_deep_agents already extracts skills from successful trajectories — port it into the platform.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73152" cy="32918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TRUST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A11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stops an agent from doing something dumb (or illegal)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109728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920240"/>
            <a:ext cx="3657600" cy="2057400"/>
          </a:xfrm>
          <a:prstGeom prst="rect">
            <a:avLst/>
          </a:prstGeom>
          <a:solidFill>
            <a:srgbClr val="F2F4F8"/>
          </a:solidFill>
          <a:ln w="9525">
            <a:solidFill>
              <a:srgbClr val="E4E9F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920240"/>
            <a:ext cx="73152" cy="2057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103120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25880" y="205740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1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Tenant isolation (already live)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85800" y="2788920"/>
            <a:ext cx="3246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 run inherits RLS + GCS prefix + File Search store scoped to tenant_id. Non-negotiable.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297680" y="1920240"/>
            <a:ext cx="3657600" cy="2057400"/>
          </a:xfrm>
          <a:prstGeom prst="rect">
            <a:avLst/>
          </a:prstGeom>
          <a:solidFill>
            <a:srgbClr val="F2F4F8"/>
          </a:solidFill>
          <a:ln w="9525">
            <a:solidFill>
              <a:srgbClr val="E4E9F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297680" y="1920240"/>
            <a:ext cx="73152" cy="2057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2103120"/>
            <a:ext cx="502920" cy="5029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166360" y="205740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1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Least-privilege tool grants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526280" y="2788920"/>
            <a:ext cx="3246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is approved for a subset of tools. Tool scopes (read/write/send) managed per-tenant.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8138160" y="1920240"/>
            <a:ext cx="3657600" cy="2057400"/>
          </a:xfrm>
          <a:prstGeom prst="rect">
            <a:avLst/>
          </a:prstGeom>
          <a:solidFill>
            <a:srgbClr val="F2F4F8"/>
          </a:solidFill>
          <a:ln w="9525">
            <a:solidFill>
              <a:srgbClr val="E4E9F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138160" y="1920240"/>
            <a:ext cx="73152" cy="2057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2103120"/>
            <a:ext cx="502920" cy="5029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006840" y="205740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1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Human-in-the-loop approvals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8366760" y="2788920"/>
            <a:ext cx="3246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per action — amounts &gt; $X, emails to externals, data deletions — blocked until approved.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57200" y="4160520"/>
            <a:ext cx="3657600" cy="2057400"/>
          </a:xfrm>
          <a:prstGeom prst="rect">
            <a:avLst/>
          </a:prstGeom>
          <a:solidFill>
            <a:srgbClr val="F2F4F8"/>
          </a:solidFill>
          <a:ln w="9525">
            <a:solidFill>
              <a:srgbClr val="E4E9F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57200" y="4160520"/>
            <a:ext cx="73152" cy="2057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343400"/>
            <a:ext cx="502920" cy="5029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325880" y="42976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1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Sensitivity labels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685800" y="5029200"/>
            <a:ext cx="3246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· Internal · Confidential · PII on docs, tools, agents. Agents can't cross labels without explicit grant.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4297680" y="4160520"/>
            <a:ext cx="3657600" cy="2057400"/>
          </a:xfrm>
          <a:prstGeom prst="rect">
            <a:avLst/>
          </a:prstGeom>
          <a:solidFill>
            <a:srgbClr val="F2F4F8"/>
          </a:solidFill>
          <a:ln w="9525">
            <a:solidFill>
              <a:srgbClr val="E4E9F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297680" y="4160520"/>
            <a:ext cx="73152" cy="2057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6280" y="4343400"/>
            <a:ext cx="502920" cy="50292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166360" y="42976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1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Spend caps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4526280" y="5029200"/>
            <a:ext cx="3246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daily / monthly token + tool-call budgets per agent and per tenant. Auto-pause on breach.</a:t>
            </a:r>
            <a:endParaRPr lang="en-US" sz="1100" dirty="0"/>
          </a:p>
        </p:txBody>
      </p:sp>
      <p:sp>
        <p:nvSpPr>
          <p:cNvPr id="31" name="Shape 24"/>
          <p:cNvSpPr/>
          <p:nvPr/>
        </p:nvSpPr>
        <p:spPr>
          <a:xfrm>
            <a:off x="8138160" y="4160520"/>
            <a:ext cx="3657600" cy="2057400"/>
          </a:xfrm>
          <a:prstGeom prst="rect">
            <a:avLst/>
          </a:prstGeom>
          <a:solidFill>
            <a:srgbClr val="F2F4F8"/>
          </a:solidFill>
          <a:ln w="9525">
            <a:solidFill>
              <a:srgbClr val="E4E9F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8138160" y="4160520"/>
            <a:ext cx="73152" cy="2057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6760" y="4343400"/>
            <a:ext cx="502920" cy="50292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9006840" y="42976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1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audit trail</a:t>
            </a:r>
            <a:endParaRPr lang="en-US" sz="1300" dirty="0"/>
          </a:p>
        </p:txBody>
      </p:sp>
      <p:sp>
        <p:nvSpPr>
          <p:cNvPr id="35" name="Text 27"/>
          <p:cNvSpPr/>
          <p:nvPr/>
        </p:nvSpPr>
        <p:spPr>
          <a:xfrm>
            <a:off x="8366760" y="5029200"/>
            <a:ext cx="3246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AuditLogModel: one row per step, with tool call, input hash, duration, cost, outcome.</a:t>
            </a:r>
            <a:endParaRPr lang="en-US" sz="1100" dirty="0"/>
          </a:p>
        </p:txBody>
      </p:sp>
      <p:sp>
        <p:nvSpPr>
          <p:cNvPr id="36" name="Shape 28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37" name="Text 29"/>
          <p:cNvSpPr/>
          <p:nvPr/>
        </p:nvSpPr>
        <p:spPr>
          <a:xfrm>
            <a:off x="457200" y="65562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Biz2Bricks  ·  Agentic Platform Deep Dive  ·  Confidential</a:t>
            </a:r>
            <a:endParaRPr lang="en-US" sz="900" dirty="0"/>
          </a:p>
        </p:txBody>
      </p:sp>
      <p:sp>
        <p:nvSpPr>
          <p:cNvPr id="38" name="Text 30"/>
          <p:cNvSpPr/>
          <p:nvPr/>
        </p:nvSpPr>
        <p:spPr>
          <a:xfrm>
            <a:off x="10972800" y="655624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22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73152" cy="32918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 OBSERVABILITY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A11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Agents only ship after they pass a trajectory eval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109728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28800"/>
            <a:ext cx="5669280" cy="4389120"/>
          </a:xfrm>
          <a:prstGeom prst="rect">
            <a:avLst/>
          </a:prstGeom>
          <a:solidFill>
            <a:srgbClr val="FBF9F4"/>
          </a:solidFill>
          <a:ln w="9525">
            <a:solidFill>
              <a:srgbClr val="E4E9F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9659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eval loop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377440"/>
            <a:ext cx="502920" cy="50292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80160" y="237744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set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80160" y="267004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Per-vertical golden inputs + expected outcomes (curated + user-flagged)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3108960"/>
            <a:ext cx="502920" cy="50292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80160" y="310896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offline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80160" y="340156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draft agent over the golden set; capture full trajectory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3840480"/>
            <a:ext cx="502920" cy="50292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80160" y="384048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80160" y="413308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LLM-as-judge + deterministic checks on tool sequence, final output, cost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" y="4572000"/>
            <a:ext cx="502920" cy="50292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572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280160" y="457200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280160" y="486460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only if score ≥ threshold; regressions open a design-partner ticket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0080" y="5303520"/>
            <a:ext cx="502920" cy="50292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5303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280160" y="530352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telem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280160" y="559612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live runs to LangSmith / self-hosted OTel; feed back into golden set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400800" y="1828800"/>
            <a:ext cx="5303520" cy="4389120"/>
          </a:xfrm>
          <a:prstGeom prst="rect">
            <a:avLst/>
          </a:prstGeom>
          <a:solidFill>
            <a:srgbClr val="0A1128"/>
          </a:solidFill>
          <a:ln w="9525">
            <a:solidFill>
              <a:srgbClr val="0A112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583680" y="19659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score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675120" y="2423160"/>
            <a:ext cx="493776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12280" y="24231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Task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183880" y="242316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the agent complete the intended outcome?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675120" y="3154680"/>
            <a:ext cx="493776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12280" y="31546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Trust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183880" y="31546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every tool call authorised + within label?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675120" y="3886200"/>
            <a:ext cx="493776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12280" y="38862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8183880" y="38862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+ tool calls vs the golden budget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675120" y="4617720"/>
            <a:ext cx="493776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12280" y="46177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Latency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8183880" y="461772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p50 and p95 for interactive agents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675120" y="5349240"/>
            <a:ext cx="493776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12280" y="53492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Stability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8183880" y="534924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Run-to-run consistency across the golden set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65562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Biz2Bricks  ·  Agentic Platform Deep Dive  ·  Confidential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0972800" y="655624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22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73152" cy="32918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LIBRARY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A11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ships on day one per vertical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109728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920240"/>
            <a:ext cx="2606040" cy="4480560"/>
          </a:xfrm>
          <a:prstGeom prst="rect">
            <a:avLst/>
          </a:prstGeom>
          <a:solidFill>
            <a:srgbClr val="FBF9F4"/>
          </a:solidFill>
          <a:ln w="9525">
            <a:solidFill>
              <a:srgbClr val="E4E9F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920240"/>
            <a:ext cx="2606040" cy="6400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9202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1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Food Mfg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40080" y="2743200"/>
            <a:ext cx="22402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4E9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926080"/>
            <a:ext cx="365760" cy="36576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926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88720" y="274320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Handwritten order → invoice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611880"/>
            <a:ext cx="22402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4E9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3794760"/>
            <a:ext cx="365760" cy="36576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88720" y="361188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HACCP deviation watcher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4480560"/>
            <a:ext cx="22402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4E9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4663440"/>
            <a:ext cx="365760" cy="36576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88720" y="448056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doc auditor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5349240"/>
            <a:ext cx="22402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4E9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" y="5532120"/>
            <a:ext cx="365760" cy="36576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5532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88720" y="534924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Work-order planner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337560" y="1920240"/>
            <a:ext cx="2606040" cy="4480560"/>
          </a:xfrm>
          <a:prstGeom prst="rect">
            <a:avLst/>
          </a:prstGeom>
          <a:solidFill>
            <a:srgbClr val="FBF9F4"/>
          </a:solidFill>
          <a:ln w="9525">
            <a:solidFill>
              <a:srgbClr val="E4E9F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337560" y="1920240"/>
            <a:ext cx="2606040" cy="64008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0" y="19202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1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Recruitment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3520440" y="2743200"/>
            <a:ext cx="22402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4E9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11880" y="2926080"/>
            <a:ext cx="365760" cy="36576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11880" y="2926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069080" y="274320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screener + scorecard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520440" y="3611880"/>
            <a:ext cx="22402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4E9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611880" y="3794760"/>
            <a:ext cx="365760" cy="36576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11880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069080" y="361188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JD-to-search translator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520440" y="4480560"/>
            <a:ext cx="22402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4E9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11880" y="4663440"/>
            <a:ext cx="365760" cy="36576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1188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069080" y="448056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note → summary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520440" y="5349240"/>
            <a:ext cx="22402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4E9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611880" y="5532120"/>
            <a:ext cx="365760" cy="36576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11880" y="5532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069080" y="534924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(visa/right-to-work)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217920" y="1920240"/>
            <a:ext cx="2606040" cy="4480560"/>
          </a:xfrm>
          <a:prstGeom prst="rect">
            <a:avLst/>
          </a:prstGeom>
          <a:solidFill>
            <a:srgbClr val="FBF9F4"/>
          </a:solidFill>
          <a:ln w="9525">
            <a:solidFill>
              <a:srgbClr val="E4E9F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217920" y="1920240"/>
            <a:ext cx="2606040" cy="640080"/>
          </a:xfrm>
          <a:prstGeom prst="rect">
            <a:avLst/>
          </a:prstGeom>
          <a:solidFill>
            <a:srgbClr val="3E4D89"/>
          </a:solidFill>
          <a:ln w="12700">
            <a:solidFill>
              <a:srgbClr val="3E4D8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55080" y="19202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1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Retail</a:t>
            </a:r>
            <a:endParaRPr lang="en-US" sz="1700" dirty="0"/>
          </a:p>
        </p:txBody>
      </p:sp>
      <p:sp>
        <p:nvSpPr>
          <p:cNvPr id="47" name="Shape 45"/>
          <p:cNvSpPr/>
          <p:nvPr/>
        </p:nvSpPr>
        <p:spPr>
          <a:xfrm>
            <a:off x="6400800" y="2743200"/>
            <a:ext cx="22402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4E9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492240" y="2926080"/>
            <a:ext cx="365760" cy="365760"/>
          </a:xfrm>
          <a:prstGeom prst="ellipse">
            <a:avLst/>
          </a:prstGeom>
          <a:solidFill>
            <a:srgbClr val="3E4D89"/>
          </a:solidFill>
          <a:ln w="12700">
            <a:solidFill>
              <a:srgbClr val="3E4D8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92240" y="2926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949440" y="274320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vs invoice matcher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400800" y="3611880"/>
            <a:ext cx="22402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4E9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492240" y="3794760"/>
            <a:ext cx="365760" cy="365760"/>
          </a:xfrm>
          <a:prstGeom prst="ellipse">
            <a:avLst/>
          </a:prstGeom>
          <a:solidFill>
            <a:srgbClr val="3E4D89"/>
          </a:solidFill>
          <a:ln w="12700">
            <a:solidFill>
              <a:srgbClr val="3E4D8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92240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6949440" y="361188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performance analyst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6400800" y="4480560"/>
            <a:ext cx="22402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4E9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492240" y="4663440"/>
            <a:ext cx="365760" cy="365760"/>
          </a:xfrm>
          <a:prstGeom prst="ellipse">
            <a:avLst/>
          </a:prstGeom>
          <a:solidFill>
            <a:srgbClr val="3E4D89"/>
          </a:solidFill>
          <a:ln w="12700">
            <a:solidFill>
              <a:srgbClr val="3E4D89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49224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6949440" y="448056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reorder advisor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6400800" y="5349240"/>
            <a:ext cx="22402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4E9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492240" y="5532120"/>
            <a:ext cx="365760" cy="365760"/>
          </a:xfrm>
          <a:prstGeom prst="ellipse">
            <a:avLst/>
          </a:prstGeom>
          <a:solidFill>
            <a:srgbClr val="3E4D89"/>
          </a:solidFill>
          <a:ln w="12700">
            <a:solidFill>
              <a:srgbClr val="3E4D89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492240" y="5532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6949440" y="534924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 reconciliation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9098280" y="1920240"/>
            <a:ext cx="2606040" cy="4480560"/>
          </a:xfrm>
          <a:prstGeom prst="rect">
            <a:avLst/>
          </a:prstGeom>
          <a:solidFill>
            <a:srgbClr val="FBF9F4"/>
          </a:solidFill>
          <a:ln w="9525">
            <a:solidFill>
              <a:srgbClr val="E4E9F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9098280" y="1920240"/>
            <a:ext cx="2606040" cy="64008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235440" y="19202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1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Estate</a:t>
            </a:r>
            <a:endParaRPr lang="en-US" sz="1700" dirty="0"/>
          </a:p>
        </p:txBody>
      </p:sp>
      <p:sp>
        <p:nvSpPr>
          <p:cNvPr id="66" name="Shape 64"/>
          <p:cNvSpPr/>
          <p:nvPr/>
        </p:nvSpPr>
        <p:spPr>
          <a:xfrm>
            <a:off x="9281160" y="2743200"/>
            <a:ext cx="22402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4E9F2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9372600" y="2926080"/>
            <a:ext cx="365760" cy="36576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9372600" y="2926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9829800" y="274320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 fact extractor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9281160" y="3611880"/>
            <a:ext cx="22402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4E9F2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9372600" y="3794760"/>
            <a:ext cx="365760" cy="36576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9372600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9829800" y="361188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Lease clause comparator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9281160" y="4480560"/>
            <a:ext cx="22402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4E9F2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9372600" y="4663440"/>
            <a:ext cx="365760" cy="36576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937260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9829800" y="448056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report auditor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9281160" y="5349240"/>
            <a:ext cx="22402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4E9F2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9372600" y="5532120"/>
            <a:ext cx="365760" cy="36576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9372600" y="5532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81" name="Text 79"/>
          <p:cNvSpPr/>
          <p:nvPr/>
        </p:nvSpPr>
        <p:spPr>
          <a:xfrm>
            <a:off x="9829800" y="534924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 market researcher</a:t>
            </a:r>
            <a:endParaRPr lang="en-US" sz="1100" dirty="0"/>
          </a:p>
        </p:txBody>
      </p:sp>
      <p:sp>
        <p:nvSpPr>
          <p:cNvPr id="82" name="Text 80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template ships with its trigger, tools, memory config, and golden-set eval — not just a prompt.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73152" cy="32918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A11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Positioning: Glean for SMBs, not a LangGraph IDE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109728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28800"/>
            <a:ext cx="5486400" cy="4389120"/>
          </a:xfrm>
          <a:prstGeom prst="rect">
            <a:avLst/>
          </a:prstGeom>
          <a:solidFill>
            <a:srgbClr val="F2F4F8"/>
          </a:solidFill>
          <a:ln w="9525">
            <a:solidFill>
              <a:srgbClr val="E4E9F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9659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60-second pitch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423160"/>
            <a:ext cx="51206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A11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"Biz2Bricks is the Glean for small and mid-sized businesses.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pre-package agents for your industry — food, recruitment, retail, real estate — so you get working outcomes in a week, not a six-month enterprise rollout.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i="1" dirty="0">
                <a:solidFill>
                  <a:srgbClr val="4755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data stays tenant-isolated in our Cloud SQL / GCS / File Search stack, every agent run is audited, and you can build your own agents in a no-code canvas from $199/mo."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1828800"/>
            <a:ext cx="548640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9F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17920" y="1828800"/>
            <a:ext cx="73152" cy="10515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2103120"/>
            <a:ext cx="502920" cy="5029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040880" y="19202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1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Primary motion: Product-led + design partners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040880" y="23317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design partners per vertical · self-serve from Starter tier · templates drive first-value in &lt; 1 week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217920" y="2944368"/>
            <a:ext cx="548640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9F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217920" y="2944368"/>
            <a:ext cx="73152" cy="10515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3218688"/>
            <a:ext cx="502920" cy="5029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040880" y="303580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1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ICP: SMBs with real document pain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7040880" y="344728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20–500 person cos. doing manual extraction, compliance, or reconciliation. Vertical-first, not geography-first.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6217920" y="4059936"/>
            <a:ext cx="548640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9F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217920" y="4059936"/>
            <a:ext cx="73152" cy="10515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4334256"/>
            <a:ext cx="502920" cy="5029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7040880" y="4151376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1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Secondary motion: Vertical partnerships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7040880" y="4562856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ERPs, ATSs, PMS vendors embed our agent runtime in their apps (white-label)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6217920" y="5175504"/>
            <a:ext cx="548640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9F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217920" y="5175504"/>
            <a:ext cx="73152" cy="10515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5449824"/>
            <a:ext cx="502920" cy="50292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040880" y="5266944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1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Positioning proof points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7040880" y="5678424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"Agent runs today — no Solutions Architect engagement" · "Your industry's templates, already evaluated"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457200" y="65562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Biz2Bricks  ·  Agentic Platform Deep Dive  ·  Confidential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10972800" y="655624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22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73152" cy="32918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REFRESH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A11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tiers · seats + agent runs · metered overage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109728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920240"/>
            <a:ext cx="1463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9202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920240" y="1920240"/>
            <a:ext cx="1828800" cy="502920"/>
          </a:xfrm>
          <a:prstGeom prst="rect">
            <a:avLst/>
          </a:prstGeom>
          <a:solidFill>
            <a:srgbClr val="0A1128"/>
          </a:solidFill>
          <a:ln w="12700">
            <a:solidFill>
              <a:srgbClr val="0A11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11680" y="19202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749040" y="1920240"/>
            <a:ext cx="1828800" cy="502920"/>
          </a:xfrm>
          <a:prstGeom prst="rect">
            <a:avLst/>
          </a:prstGeom>
          <a:solidFill>
            <a:srgbClr val="0A1128"/>
          </a:solidFill>
          <a:ln w="12700">
            <a:solidFill>
              <a:srgbClr val="0A11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0" y="19202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577840" y="1920240"/>
            <a:ext cx="1828800" cy="5029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0" y="19202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406640" y="1920240"/>
            <a:ext cx="1828800" cy="502920"/>
          </a:xfrm>
          <a:prstGeom prst="rect">
            <a:avLst/>
          </a:prstGeom>
          <a:solidFill>
            <a:srgbClr val="0A1128"/>
          </a:solidFill>
          <a:ln w="12700">
            <a:solidFill>
              <a:srgbClr val="0A11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0" y="19202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235440" y="1920240"/>
            <a:ext cx="2286000" cy="502920"/>
          </a:xfrm>
          <a:prstGeom prst="rect">
            <a:avLst/>
          </a:prstGeom>
          <a:solidFill>
            <a:srgbClr val="0A1128"/>
          </a:solidFill>
          <a:ln w="12700">
            <a:solidFill>
              <a:srgbClr val="0A11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26880" y="19202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423160"/>
            <a:ext cx="1463040" cy="384048"/>
          </a:xfrm>
          <a:prstGeom prst="rect">
            <a:avLst/>
          </a:prstGeom>
          <a:solidFill>
            <a:srgbClr val="F2F4F8"/>
          </a:solidFill>
          <a:ln w="6350">
            <a:solidFill>
              <a:srgbClr val="E4E9F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42316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920240" y="2423160"/>
            <a:ext cx="18288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4E9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11680" y="242316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749040" y="2423160"/>
            <a:ext cx="18288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4E9F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0" y="242316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$199 / mo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577840" y="2423160"/>
            <a:ext cx="1828800" cy="384048"/>
          </a:xfrm>
          <a:prstGeom prst="rect">
            <a:avLst/>
          </a:prstGeom>
          <a:solidFill>
            <a:srgbClr val="FDE3C7"/>
          </a:solidFill>
          <a:ln w="6350">
            <a:solidFill>
              <a:srgbClr val="E4E9F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0" y="242316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$699 / mo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406640" y="2423160"/>
            <a:ext cx="18288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4E9F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98080" y="242316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$1,999 / mo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235440" y="2423160"/>
            <a:ext cx="2286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4E9F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326880" y="242316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7200" y="2807208"/>
            <a:ext cx="1463040" cy="384048"/>
          </a:xfrm>
          <a:prstGeom prst="rect">
            <a:avLst/>
          </a:prstGeom>
          <a:solidFill>
            <a:srgbClr val="F2F4F8"/>
          </a:solidFill>
          <a:ln w="6350">
            <a:solidFill>
              <a:srgbClr val="E4E9F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280720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1920240" y="2807208"/>
            <a:ext cx="1828800" cy="384048"/>
          </a:xfrm>
          <a:prstGeom prst="rect">
            <a:avLst/>
          </a:prstGeom>
          <a:solidFill>
            <a:srgbClr val="FBF9F4"/>
          </a:solidFill>
          <a:ln w="6350">
            <a:solidFill>
              <a:srgbClr val="E4E9F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011680" y="280720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749040" y="2807208"/>
            <a:ext cx="1828800" cy="384048"/>
          </a:xfrm>
          <a:prstGeom prst="rect">
            <a:avLst/>
          </a:prstGeom>
          <a:solidFill>
            <a:srgbClr val="FBF9F4"/>
          </a:solidFill>
          <a:ln w="6350">
            <a:solidFill>
              <a:srgbClr val="E4E9F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40480" y="280720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1–5 people SMB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577840" y="2807208"/>
            <a:ext cx="1828800" cy="384048"/>
          </a:xfrm>
          <a:prstGeom prst="rect">
            <a:avLst/>
          </a:prstGeom>
          <a:solidFill>
            <a:srgbClr val="FDE3C7"/>
          </a:solidFill>
          <a:ln w="6350">
            <a:solidFill>
              <a:srgbClr val="E4E9F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0" y="280720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10–50 person SMB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7406640" y="2807208"/>
            <a:ext cx="1828800" cy="384048"/>
          </a:xfrm>
          <a:prstGeom prst="rect">
            <a:avLst/>
          </a:prstGeom>
          <a:solidFill>
            <a:srgbClr val="FBF9F4"/>
          </a:solidFill>
          <a:ln w="6350">
            <a:solidFill>
              <a:srgbClr val="E4E9F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98080" y="280720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50–200 mid-market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9235440" y="2807208"/>
            <a:ext cx="2286000" cy="384048"/>
          </a:xfrm>
          <a:prstGeom prst="rect">
            <a:avLst/>
          </a:prstGeom>
          <a:solidFill>
            <a:srgbClr val="FBF9F4"/>
          </a:solidFill>
          <a:ln w="6350">
            <a:solidFill>
              <a:srgbClr val="E4E9F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326880" y="280720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200+  ·  regulated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57200" y="3191256"/>
            <a:ext cx="1463040" cy="384048"/>
          </a:xfrm>
          <a:prstGeom prst="rect">
            <a:avLst/>
          </a:prstGeom>
          <a:solidFill>
            <a:srgbClr val="F2F4F8"/>
          </a:solidFill>
          <a:ln w="6350">
            <a:solidFill>
              <a:srgbClr val="E4E9F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8640" y="319125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1920240" y="3191256"/>
            <a:ext cx="18288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4E9F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011680" y="319125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3749040" y="3191256"/>
            <a:ext cx="18288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4E9F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840480" y="319125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5577840" y="3191256"/>
            <a:ext cx="1828800" cy="384048"/>
          </a:xfrm>
          <a:prstGeom prst="rect">
            <a:avLst/>
          </a:prstGeom>
          <a:solidFill>
            <a:srgbClr val="FDE3C7"/>
          </a:solidFill>
          <a:ln w="6350">
            <a:solidFill>
              <a:srgbClr val="E4E9F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669280" y="319125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7406640" y="3191256"/>
            <a:ext cx="18288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4E9F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498080" y="319125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9235440" y="3191256"/>
            <a:ext cx="2286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4E9F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326880" y="3191256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457200" y="3575304"/>
            <a:ext cx="1463040" cy="384048"/>
          </a:xfrm>
          <a:prstGeom prst="rect">
            <a:avLst/>
          </a:prstGeom>
          <a:solidFill>
            <a:srgbClr val="F2F4F8"/>
          </a:solidFill>
          <a:ln w="6350">
            <a:solidFill>
              <a:srgbClr val="E4E9F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48640" y="357530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1920240" y="3575304"/>
            <a:ext cx="1828800" cy="384048"/>
          </a:xfrm>
          <a:prstGeom prst="rect">
            <a:avLst/>
          </a:prstGeom>
          <a:solidFill>
            <a:srgbClr val="FBF9F4"/>
          </a:solidFill>
          <a:ln w="6350">
            <a:solidFill>
              <a:srgbClr val="E4E9F2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011680" y="357530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3749040" y="3575304"/>
            <a:ext cx="1828800" cy="384048"/>
          </a:xfrm>
          <a:prstGeom prst="rect">
            <a:avLst/>
          </a:prstGeom>
          <a:solidFill>
            <a:srgbClr val="FBF9F4"/>
          </a:solidFill>
          <a:ln w="6350">
            <a:solidFill>
              <a:srgbClr val="E4E9F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840480" y="357530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5577840" y="3575304"/>
            <a:ext cx="1828800" cy="384048"/>
          </a:xfrm>
          <a:prstGeom prst="rect">
            <a:avLst/>
          </a:prstGeom>
          <a:solidFill>
            <a:srgbClr val="FDE3C7"/>
          </a:solidFill>
          <a:ln w="6350">
            <a:solidFill>
              <a:srgbClr val="E4E9F2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669280" y="357530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7406640" y="3575304"/>
            <a:ext cx="1828800" cy="384048"/>
          </a:xfrm>
          <a:prstGeom prst="rect">
            <a:avLst/>
          </a:prstGeom>
          <a:solidFill>
            <a:srgbClr val="FBF9F4"/>
          </a:solidFill>
          <a:ln w="6350">
            <a:solidFill>
              <a:srgbClr val="E4E9F2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498080" y="357530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9235440" y="3575304"/>
            <a:ext cx="2286000" cy="384048"/>
          </a:xfrm>
          <a:prstGeom prst="rect">
            <a:avLst/>
          </a:prstGeom>
          <a:solidFill>
            <a:srgbClr val="FBF9F4"/>
          </a:solidFill>
          <a:ln w="6350">
            <a:solidFill>
              <a:srgbClr val="E4E9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326880" y="357530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457200" y="3959352"/>
            <a:ext cx="1463040" cy="384048"/>
          </a:xfrm>
          <a:prstGeom prst="rect">
            <a:avLst/>
          </a:prstGeom>
          <a:solidFill>
            <a:srgbClr val="F2F4F8"/>
          </a:solidFill>
          <a:ln w="6350">
            <a:solidFill>
              <a:srgbClr val="E4E9F2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48640" y="395935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runs / mo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1920240" y="3959352"/>
            <a:ext cx="18288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4E9F2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011680" y="395935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3749040" y="3959352"/>
            <a:ext cx="18288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4E9F2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840480" y="395935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</a:t>
            </a: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5577840" y="3959352"/>
            <a:ext cx="1828800" cy="384048"/>
          </a:xfrm>
          <a:prstGeom prst="rect">
            <a:avLst/>
          </a:prstGeom>
          <a:solidFill>
            <a:srgbClr val="FDE3C7"/>
          </a:solidFill>
          <a:ln w="6350">
            <a:solidFill>
              <a:srgbClr val="E4E9F2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669280" y="395935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20,000</a:t>
            </a:r>
            <a:endParaRPr lang="en-US" sz="1050" dirty="0"/>
          </a:p>
        </p:txBody>
      </p:sp>
      <p:sp>
        <p:nvSpPr>
          <p:cNvPr id="74" name="Shape 72"/>
          <p:cNvSpPr/>
          <p:nvPr/>
        </p:nvSpPr>
        <p:spPr>
          <a:xfrm>
            <a:off x="7406640" y="3959352"/>
            <a:ext cx="18288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4E9F2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498080" y="395935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100,000</a:t>
            </a:r>
            <a:endParaRPr lang="en-US" sz="1050" dirty="0"/>
          </a:p>
        </p:txBody>
      </p:sp>
      <p:sp>
        <p:nvSpPr>
          <p:cNvPr id="76" name="Shape 74"/>
          <p:cNvSpPr/>
          <p:nvPr/>
        </p:nvSpPr>
        <p:spPr>
          <a:xfrm>
            <a:off x="9235440" y="3959352"/>
            <a:ext cx="2286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4E9F2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9326880" y="395935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(+ BYOK, VPC)</a:t>
            </a:r>
            <a:endParaRPr lang="en-US" sz="1050" dirty="0"/>
          </a:p>
        </p:txBody>
      </p:sp>
      <p:sp>
        <p:nvSpPr>
          <p:cNvPr id="78" name="Shape 76"/>
          <p:cNvSpPr/>
          <p:nvPr/>
        </p:nvSpPr>
        <p:spPr>
          <a:xfrm>
            <a:off x="457200" y="4343400"/>
            <a:ext cx="1463040" cy="384048"/>
          </a:xfrm>
          <a:prstGeom prst="rect">
            <a:avLst/>
          </a:prstGeom>
          <a:solidFill>
            <a:srgbClr val="F2F4F8"/>
          </a:solidFill>
          <a:ln w="6350">
            <a:solidFill>
              <a:srgbClr val="E4E9F2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48640" y="434340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050" dirty="0"/>
          </a:p>
        </p:txBody>
      </p:sp>
      <p:sp>
        <p:nvSpPr>
          <p:cNvPr id="80" name="Shape 78"/>
          <p:cNvSpPr/>
          <p:nvPr/>
        </p:nvSpPr>
        <p:spPr>
          <a:xfrm>
            <a:off x="1920240" y="4343400"/>
            <a:ext cx="1828800" cy="384048"/>
          </a:xfrm>
          <a:prstGeom prst="rect">
            <a:avLst/>
          </a:prstGeom>
          <a:solidFill>
            <a:srgbClr val="FBF9F4"/>
          </a:solidFill>
          <a:ln w="6350">
            <a:solidFill>
              <a:srgbClr val="E4E9F2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2011680" y="434340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native</a:t>
            </a:r>
            <a:endParaRPr lang="en-US" sz="1050" dirty="0"/>
          </a:p>
        </p:txBody>
      </p:sp>
      <p:sp>
        <p:nvSpPr>
          <p:cNvPr id="82" name="Shape 80"/>
          <p:cNvSpPr/>
          <p:nvPr/>
        </p:nvSpPr>
        <p:spPr>
          <a:xfrm>
            <a:off x="3749040" y="4343400"/>
            <a:ext cx="1828800" cy="384048"/>
          </a:xfrm>
          <a:prstGeom prst="rect">
            <a:avLst/>
          </a:prstGeom>
          <a:solidFill>
            <a:srgbClr val="FBF9F4"/>
          </a:solidFill>
          <a:ln w="6350">
            <a:solidFill>
              <a:srgbClr val="E4E9F2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840480" y="434340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native + 3 MCP</a:t>
            </a:r>
            <a:endParaRPr lang="en-US" sz="1050" dirty="0"/>
          </a:p>
        </p:txBody>
      </p:sp>
      <p:sp>
        <p:nvSpPr>
          <p:cNvPr id="84" name="Shape 82"/>
          <p:cNvSpPr/>
          <p:nvPr/>
        </p:nvSpPr>
        <p:spPr>
          <a:xfrm>
            <a:off x="5577840" y="4343400"/>
            <a:ext cx="1828800" cy="384048"/>
          </a:xfrm>
          <a:prstGeom prst="rect">
            <a:avLst/>
          </a:prstGeom>
          <a:solidFill>
            <a:srgbClr val="FDE3C7"/>
          </a:solidFill>
          <a:ln w="6350">
            <a:solidFill>
              <a:srgbClr val="E4E9F2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669280" y="434340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native + 20 MCP + custom</a:t>
            </a:r>
            <a:endParaRPr lang="en-US" sz="1050" dirty="0"/>
          </a:p>
        </p:txBody>
      </p:sp>
      <p:sp>
        <p:nvSpPr>
          <p:cNvPr id="86" name="Shape 84"/>
          <p:cNvSpPr/>
          <p:nvPr/>
        </p:nvSpPr>
        <p:spPr>
          <a:xfrm>
            <a:off x="7406640" y="4343400"/>
            <a:ext cx="1828800" cy="384048"/>
          </a:xfrm>
          <a:prstGeom prst="rect">
            <a:avLst/>
          </a:prstGeom>
          <a:solidFill>
            <a:srgbClr val="FBF9F4"/>
          </a:solidFill>
          <a:ln w="6350">
            <a:solidFill>
              <a:srgbClr val="E4E9F2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498080" y="434340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</a:t>
            </a:r>
            <a:endParaRPr lang="en-US" sz="1050" dirty="0"/>
          </a:p>
        </p:txBody>
      </p:sp>
      <p:sp>
        <p:nvSpPr>
          <p:cNvPr id="88" name="Shape 86"/>
          <p:cNvSpPr/>
          <p:nvPr/>
        </p:nvSpPr>
        <p:spPr>
          <a:xfrm>
            <a:off x="9235440" y="4343400"/>
            <a:ext cx="2286000" cy="384048"/>
          </a:xfrm>
          <a:prstGeom prst="rect">
            <a:avLst/>
          </a:prstGeom>
          <a:solidFill>
            <a:srgbClr val="FBF9F4"/>
          </a:solidFill>
          <a:ln w="6350">
            <a:solidFill>
              <a:srgbClr val="E4E9F2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9326880" y="434340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+ private MCP</a:t>
            </a:r>
            <a:endParaRPr lang="en-US" sz="1050" dirty="0"/>
          </a:p>
        </p:txBody>
      </p:sp>
      <p:sp>
        <p:nvSpPr>
          <p:cNvPr id="90" name="Shape 88"/>
          <p:cNvSpPr/>
          <p:nvPr/>
        </p:nvSpPr>
        <p:spPr>
          <a:xfrm>
            <a:off x="457200" y="4727448"/>
            <a:ext cx="1463040" cy="384048"/>
          </a:xfrm>
          <a:prstGeom prst="rect">
            <a:avLst/>
          </a:prstGeom>
          <a:solidFill>
            <a:srgbClr val="F2F4F8"/>
          </a:solidFill>
          <a:ln w="6350">
            <a:solidFill>
              <a:srgbClr val="E4E9F2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548640" y="472744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050" dirty="0"/>
          </a:p>
        </p:txBody>
      </p:sp>
      <p:sp>
        <p:nvSpPr>
          <p:cNvPr id="92" name="Shape 90"/>
          <p:cNvSpPr/>
          <p:nvPr/>
        </p:nvSpPr>
        <p:spPr>
          <a:xfrm>
            <a:off x="1920240" y="4727448"/>
            <a:ext cx="18288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4E9F2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2011680" y="472744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GB</a:t>
            </a:r>
            <a:endParaRPr lang="en-US" sz="1050" dirty="0"/>
          </a:p>
        </p:txBody>
      </p:sp>
      <p:sp>
        <p:nvSpPr>
          <p:cNvPr id="94" name="Shape 92"/>
          <p:cNvSpPr/>
          <p:nvPr/>
        </p:nvSpPr>
        <p:spPr>
          <a:xfrm>
            <a:off x="3749040" y="4727448"/>
            <a:ext cx="18288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4E9F2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3840480" y="472744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GB</a:t>
            </a:r>
            <a:endParaRPr lang="en-US" sz="1050" dirty="0"/>
          </a:p>
        </p:txBody>
      </p:sp>
      <p:sp>
        <p:nvSpPr>
          <p:cNvPr id="96" name="Shape 94"/>
          <p:cNvSpPr/>
          <p:nvPr/>
        </p:nvSpPr>
        <p:spPr>
          <a:xfrm>
            <a:off x="5577840" y="4727448"/>
            <a:ext cx="1828800" cy="384048"/>
          </a:xfrm>
          <a:prstGeom prst="rect">
            <a:avLst/>
          </a:prstGeom>
          <a:solidFill>
            <a:srgbClr val="FDE3C7"/>
          </a:solidFill>
          <a:ln w="6350">
            <a:solidFill>
              <a:srgbClr val="E4E9F2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5669280" y="472744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 GB</a:t>
            </a:r>
            <a:endParaRPr lang="en-US" sz="1050" dirty="0"/>
          </a:p>
        </p:txBody>
      </p:sp>
      <p:sp>
        <p:nvSpPr>
          <p:cNvPr id="98" name="Shape 96"/>
          <p:cNvSpPr/>
          <p:nvPr/>
        </p:nvSpPr>
        <p:spPr>
          <a:xfrm>
            <a:off x="7406640" y="4727448"/>
            <a:ext cx="18288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4E9F2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7498080" y="472744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TB</a:t>
            </a:r>
            <a:endParaRPr lang="en-US" sz="1050" dirty="0"/>
          </a:p>
        </p:txBody>
      </p:sp>
      <p:sp>
        <p:nvSpPr>
          <p:cNvPr id="100" name="Shape 98"/>
          <p:cNvSpPr/>
          <p:nvPr/>
        </p:nvSpPr>
        <p:spPr>
          <a:xfrm>
            <a:off x="9235440" y="4727448"/>
            <a:ext cx="2286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4E9F2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9326880" y="472744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</a:t>
            </a:r>
            <a:endParaRPr lang="en-US" sz="1050" dirty="0"/>
          </a:p>
        </p:txBody>
      </p:sp>
      <p:sp>
        <p:nvSpPr>
          <p:cNvPr id="102" name="Shape 100"/>
          <p:cNvSpPr/>
          <p:nvPr/>
        </p:nvSpPr>
        <p:spPr>
          <a:xfrm>
            <a:off x="457200" y="5111496"/>
            <a:ext cx="1463040" cy="384048"/>
          </a:xfrm>
          <a:prstGeom prst="rect">
            <a:avLst/>
          </a:prstGeom>
          <a:solidFill>
            <a:srgbClr val="F2F4F8"/>
          </a:solidFill>
          <a:ln w="6350">
            <a:solidFill>
              <a:srgbClr val="E4E9F2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548640" y="511149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050" dirty="0"/>
          </a:p>
        </p:txBody>
      </p:sp>
      <p:sp>
        <p:nvSpPr>
          <p:cNvPr id="104" name="Shape 102"/>
          <p:cNvSpPr/>
          <p:nvPr/>
        </p:nvSpPr>
        <p:spPr>
          <a:xfrm>
            <a:off x="1920240" y="5111496"/>
            <a:ext cx="1828800" cy="384048"/>
          </a:xfrm>
          <a:prstGeom prst="rect">
            <a:avLst/>
          </a:prstGeom>
          <a:solidFill>
            <a:srgbClr val="FBF9F4"/>
          </a:solidFill>
          <a:ln w="6350">
            <a:solidFill>
              <a:srgbClr val="E4E9F2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2011680" y="511149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</a:t>
            </a:r>
            <a:endParaRPr lang="en-US" sz="1050" dirty="0"/>
          </a:p>
        </p:txBody>
      </p:sp>
      <p:sp>
        <p:nvSpPr>
          <p:cNvPr id="106" name="Shape 104"/>
          <p:cNvSpPr/>
          <p:nvPr/>
        </p:nvSpPr>
        <p:spPr>
          <a:xfrm>
            <a:off x="3749040" y="5111496"/>
            <a:ext cx="1828800" cy="384048"/>
          </a:xfrm>
          <a:prstGeom prst="rect">
            <a:avLst/>
          </a:prstGeom>
          <a:solidFill>
            <a:srgbClr val="FBF9F4"/>
          </a:solidFill>
          <a:ln w="6350">
            <a:solidFill>
              <a:srgbClr val="E4E9F2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3840480" y="511149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</a:t>
            </a:r>
            <a:endParaRPr lang="en-US" sz="1050" dirty="0"/>
          </a:p>
        </p:txBody>
      </p:sp>
      <p:sp>
        <p:nvSpPr>
          <p:cNvPr id="108" name="Shape 106"/>
          <p:cNvSpPr/>
          <p:nvPr/>
        </p:nvSpPr>
        <p:spPr>
          <a:xfrm>
            <a:off x="5577840" y="5111496"/>
            <a:ext cx="1828800" cy="384048"/>
          </a:xfrm>
          <a:prstGeom prst="rect">
            <a:avLst/>
          </a:prstGeom>
          <a:solidFill>
            <a:srgbClr val="FDE3C7"/>
          </a:solidFill>
          <a:ln w="6350">
            <a:solidFill>
              <a:srgbClr val="E4E9F2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5669280" y="511149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Approvals + labels</a:t>
            </a:r>
            <a:endParaRPr lang="en-US" sz="1050" dirty="0"/>
          </a:p>
        </p:txBody>
      </p:sp>
      <p:sp>
        <p:nvSpPr>
          <p:cNvPr id="110" name="Shape 108"/>
          <p:cNvSpPr/>
          <p:nvPr/>
        </p:nvSpPr>
        <p:spPr>
          <a:xfrm>
            <a:off x="7406640" y="5111496"/>
            <a:ext cx="1828800" cy="384048"/>
          </a:xfrm>
          <a:prstGeom prst="rect">
            <a:avLst/>
          </a:prstGeom>
          <a:solidFill>
            <a:srgbClr val="FBF9F4"/>
          </a:solidFill>
          <a:ln w="6350">
            <a:solidFill>
              <a:srgbClr val="E4E9F2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7498080" y="511149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+ spend caps</a:t>
            </a:r>
            <a:endParaRPr lang="en-US" sz="1050" dirty="0"/>
          </a:p>
        </p:txBody>
      </p:sp>
      <p:sp>
        <p:nvSpPr>
          <p:cNvPr id="112" name="Shape 110"/>
          <p:cNvSpPr/>
          <p:nvPr/>
        </p:nvSpPr>
        <p:spPr>
          <a:xfrm>
            <a:off x="9235440" y="5111496"/>
            <a:ext cx="2286000" cy="384048"/>
          </a:xfrm>
          <a:prstGeom prst="rect">
            <a:avLst/>
          </a:prstGeom>
          <a:solidFill>
            <a:srgbClr val="FBF9F4"/>
          </a:solidFill>
          <a:ln w="6350">
            <a:solidFill>
              <a:srgbClr val="E4E9F2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9326880" y="5111496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SOC2 · SSO · DPA · on-call</a:t>
            </a:r>
            <a:endParaRPr lang="en-US" sz="1050" dirty="0"/>
          </a:p>
        </p:txBody>
      </p:sp>
      <p:sp>
        <p:nvSpPr>
          <p:cNvPr id="114" name="Shape 112"/>
          <p:cNvSpPr/>
          <p:nvPr/>
        </p:nvSpPr>
        <p:spPr>
          <a:xfrm>
            <a:off x="457200" y="5495544"/>
            <a:ext cx="1463040" cy="384048"/>
          </a:xfrm>
          <a:prstGeom prst="rect">
            <a:avLst/>
          </a:prstGeom>
          <a:solidFill>
            <a:srgbClr val="F2F4F8"/>
          </a:solidFill>
          <a:ln w="6350">
            <a:solidFill>
              <a:srgbClr val="E4E9F2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548640" y="549554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Overage</a:t>
            </a:r>
            <a:endParaRPr lang="en-US" sz="1050" dirty="0"/>
          </a:p>
        </p:txBody>
      </p:sp>
      <p:sp>
        <p:nvSpPr>
          <p:cNvPr id="116" name="Shape 114"/>
          <p:cNvSpPr/>
          <p:nvPr/>
        </p:nvSpPr>
        <p:spPr>
          <a:xfrm>
            <a:off x="1920240" y="5495544"/>
            <a:ext cx="18288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4E9F2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2011680" y="549554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118" name="Shape 116"/>
          <p:cNvSpPr/>
          <p:nvPr/>
        </p:nvSpPr>
        <p:spPr>
          <a:xfrm>
            <a:off x="3749040" y="5495544"/>
            <a:ext cx="18288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4E9F2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3840480" y="549554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$0.01 / step</a:t>
            </a:r>
            <a:endParaRPr lang="en-US" sz="1050" dirty="0"/>
          </a:p>
        </p:txBody>
      </p:sp>
      <p:sp>
        <p:nvSpPr>
          <p:cNvPr id="120" name="Shape 118"/>
          <p:cNvSpPr/>
          <p:nvPr/>
        </p:nvSpPr>
        <p:spPr>
          <a:xfrm>
            <a:off x="5577840" y="5495544"/>
            <a:ext cx="1828800" cy="384048"/>
          </a:xfrm>
          <a:prstGeom prst="rect">
            <a:avLst/>
          </a:prstGeom>
          <a:solidFill>
            <a:srgbClr val="FDE3C7"/>
          </a:solidFill>
          <a:ln w="6350">
            <a:solidFill>
              <a:srgbClr val="E4E9F2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5669280" y="549554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$0.01 / step</a:t>
            </a:r>
            <a:endParaRPr lang="en-US" sz="1050" dirty="0"/>
          </a:p>
        </p:txBody>
      </p:sp>
      <p:sp>
        <p:nvSpPr>
          <p:cNvPr id="122" name="Shape 120"/>
          <p:cNvSpPr/>
          <p:nvPr/>
        </p:nvSpPr>
        <p:spPr>
          <a:xfrm>
            <a:off x="7406640" y="5495544"/>
            <a:ext cx="18288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4E9F2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7498080" y="549554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$0.008 / step</a:t>
            </a:r>
            <a:endParaRPr lang="en-US" sz="1050" dirty="0"/>
          </a:p>
        </p:txBody>
      </p:sp>
      <p:sp>
        <p:nvSpPr>
          <p:cNvPr id="124" name="Shape 122"/>
          <p:cNvSpPr/>
          <p:nvPr/>
        </p:nvSpPr>
        <p:spPr>
          <a:xfrm>
            <a:off x="9235440" y="5495544"/>
            <a:ext cx="2286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4E9F2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9326880" y="549554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Negotiated</a:t>
            </a:r>
            <a:endParaRPr lang="en-US" sz="1050" dirty="0"/>
          </a:p>
        </p:txBody>
      </p:sp>
      <p:sp>
        <p:nvSpPr>
          <p:cNvPr id="126" name="Text 124"/>
          <p:cNvSpPr/>
          <p:nvPr/>
        </p:nvSpPr>
        <p:spPr>
          <a:xfrm>
            <a:off x="457200" y="6062472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is the recommended landing tier — priced to beat Copilot Studio credits, positioned against Glean's $60K floor.</a:t>
            </a:r>
            <a:endParaRPr lang="en-US" sz="1100" dirty="0"/>
          </a:p>
        </p:txBody>
      </p:sp>
      <p:sp>
        <p:nvSpPr>
          <p:cNvPr id="127" name="Shape 125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457200" y="65562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Biz2Bricks  ·  Agentic Platform Deep Dive  ·  Confidential</a:t>
            </a:r>
            <a:endParaRPr lang="en-US" sz="900" dirty="0"/>
          </a:p>
        </p:txBody>
      </p:sp>
      <p:sp>
        <p:nvSpPr>
          <p:cNvPr id="129" name="Text 127"/>
          <p:cNvSpPr/>
          <p:nvPr/>
        </p:nvSpPr>
        <p:spPr>
          <a:xfrm>
            <a:off x="10972800" y="655624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22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73152" cy="32918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A11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phases to an Agent Platform v1 GA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109728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28800"/>
            <a:ext cx="2674620" cy="7315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874520"/>
            <a:ext cx="24003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2194560"/>
            <a:ext cx="2400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1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Foundation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57200" y="2560320"/>
            <a:ext cx="2674620" cy="320040"/>
          </a:xfrm>
          <a:prstGeom prst="rect">
            <a:avLst/>
          </a:prstGeom>
          <a:solidFill>
            <a:srgbClr val="0A1128"/>
          </a:solidFill>
          <a:ln w="12700">
            <a:solidFill>
              <a:srgbClr val="0A11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560320"/>
            <a:ext cx="24003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6–8 weeks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880360"/>
            <a:ext cx="2674620" cy="3840480"/>
          </a:xfrm>
          <a:prstGeom prst="rect">
            <a:avLst/>
          </a:prstGeom>
          <a:solidFill>
            <a:srgbClr val="FBF9F4"/>
          </a:solidFill>
          <a:ln w="6350">
            <a:solidFill>
              <a:srgbClr val="E4E9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017520"/>
            <a:ext cx="23088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Registry + MCP client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definition schema + storage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runtime on Cloud Run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AuditLog for agent runs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+ webhook triggers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14700" y="1828800"/>
            <a:ext cx="2674620" cy="73152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51860" y="1874520"/>
            <a:ext cx="24003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451860" y="2194560"/>
            <a:ext cx="2400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1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Builder UI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3314700" y="2560320"/>
            <a:ext cx="2674620" cy="320040"/>
          </a:xfrm>
          <a:prstGeom prst="rect">
            <a:avLst/>
          </a:prstGeom>
          <a:solidFill>
            <a:srgbClr val="0A1128"/>
          </a:solidFill>
          <a:ln w="12700">
            <a:solidFill>
              <a:srgbClr val="0A11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51860" y="2560320"/>
            <a:ext cx="24003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8–10 weeks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314700" y="2880360"/>
            <a:ext cx="2674620" cy="3840480"/>
          </a:xfrm>
          <a:prstGeom prst="rect">
            <a:avLst/>
          </a:prstGeom>
          <a:solidFill>
            <a:srgbClr val="FBF9F4"/>
          </a:solidFill>
          <a:ln w="6350">
            <a:solidFill>
              <a:srgbClr val="E4E9F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97580" y="3017520"/>
            <a:ext cx="23088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Flow canvas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starter templates per vertical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+ event triggers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golden-set evals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metering + billing hooks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72200" y="1828800"/>
            <a:ext cx="2674620" cy="731520"/>
          </a:xfrm>
          <a:prstGeom prst="rect">
            <a:avLst/>
          </a:prstGeom>
          <a:solidFill>
            <a:srgbClr val="3E4D89"/>
          </a:solidFill>
          <a:ln w="12700">
            <a:solidFill>
              <a:srgbClr val="3E4D8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0" y="1874520"/>
            <a:ext cx="24003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309360" y="2194560"/>
            <a:ext cx="2400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1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Governance + marketplace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6172200" y="2560320"/>
            <a:ext cx="2674620" cy="320040"/>
          </a:xfrm>
          <a:prstGeom prst="rect">
            <a:avLst/>
          </a:prstGeom>
          <a:solidFill>
            <a:srgbClr val="0A1128"/>
          </a:solidFill>
          <a:ln w="12700">
            <a:solidFill>
              <a:srgbClr val="0A112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2560320"/>
            <a:ext cx="24003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8–10 weeks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72200" y="2880360"/>
            <a:ext cx="2674620" cy="3840480"/>
          </a:xfrm>
          <a:prstGeom prst="rect">
            <a:avLst/>
          </a:prstGeom>
          <a:solidFill>
            <a:srgbClr val="FBF9F4"/>
          </a:solidFill>
          <a:ln w="6350">
            <a:solidFill>
              <a:srgbClr val="E4E9F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55080" y="3017520"/>
            <a:ext cx="23088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workflows + sensitivity labels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marketplace (MCP + partner)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library UX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 trajectory evals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+ Teams embeds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029700" y="1828800"/>
            <a:ext cx="2674620" cy="73152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66860" y="1874520"/>
            <a:ext cx="24003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2027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166860" y="2194560"/>
            <a:ext cx="2400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1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 + Enterprise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9029700" y="2560320"/>
            <a:ext cx="2674620" cy="320040"/>
          </a:xfrm>
          <a:prstGeom prst="rect">
            <a:avLst/>
          </a:prstGeom>
          <a:solidFill>
            <a:srgbClr val="0A1128"/>
          </a:solidFill>
          <a:ln w="12700">
            <a:solidFill>
              <a:srgbClr val="0A112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66860" y="2560320"/>
            <a:ext cx="24003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10–12 weeks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029700" y="2880360"/>
            <a:ext cx="2674620" cy="3840480"/>
          </a:xfrm>
          <a:prstGeom prst="rect">
            <a:avLst/>
          </a:prstGeom>
          <a:solidFill>
            <a:srgbClr val="FBF9F4"/>
          </a:solidFill>
          <a:ln w="6350">
            <a:solidFill>
              <a:srgbClr val="E4E9F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212580" y="3017520"/>
            <a:ext cx="23088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orchestration (sub-agents at scale)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Self-evolving skills (R&amp;D → product)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Word + Chrome surfaces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tier: BYOK, VPC, SSO, SOC2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+ on-call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6812280"/>
            <a:ext cx="11247120" cy="36576"/>
          </a:xfrm>
          <a:prstGeom prst="rect">
            <a:avLst/>
          </a:prstGeom>
          <a:solidFill>
            <a:srgbClr val="E4E9F2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69037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 target: Q1 2027  ·  Agent Platform v1 bundled into Starter, Growth, Business.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65562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Biz2Bricks  ·  Agentic Platform Deep Dive  ·  Confidential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72800" y="655624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22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73152" cy="32918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 MITIGATIONS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A11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could derail this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109728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74520"/>
            <a:ext cx="11247120" cy="512064"/>
          </a:xfrm>
          <a:prstGeom prst="rect">
            <a:avLst/>
          </a:prstGeom>
          <a:solidFill>
            <a:srgbClr val="F2F4F8"/>
          </a:solidFill>
          <a:ln w="6350">
            <a:solidFill>
              <a:srgbClr val="E4E9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874520"/>
            <a:ext cx="73152" cy="512064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874520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cost inflation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0" y="1874520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tiering (Flash → Pro), aggressive caching, per-agent spend caps, partial fine-tuning on hot tasks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423160"/>
            <a:ext cx="11247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4E9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423160"/>
            <a:ext cx="73152" cy="5120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423160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data leakage via tools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0" y="2423160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calls inherit tenant context; MCP servers scoped per-tenant; labels checked at runtime; red-team suite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971800"/>
            <a:ext cx="11247120" cy="512064"/>
          </a:xfrm>
          <a:prstGeom prst="rect">
            <a:avLst/>
          </a:prstGeom>
          <a:solidFill>
            <a:srgbClr val="F2F4F8"/>
          </a:solidFill>
          <a:ln w="6350">
            <a:solidFill>
              <a:srgbClr val="E4E9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971800"/>
            <a:ext cx="73152" cy="5120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971800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runaway / loops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14800" y="2971800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step caps, timeouts, budget guardrails, deterministic plan reviewer on long-horizon agents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520440"/>
            <a:ext cx="11247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4E9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520440"/>
            <a:ext cx="73152" cy="5120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520440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Glean moves down-market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114800" y="3520440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moat is vertical templates + tenant isolation + SMB price point. Keep shipping industry-specific packs.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069080"/>
            <a:ext cx="11247120" cy="512064"/>
          </a:xfrm>
          <a:prstGeom prst="rect">
            <a:avLst/>
          </a:prstGeom>
          <a:solidFill>
            <a:srgbClr val="F2F4F8"/>
          </a:solidFill>
          <a:ln w="6350">
            <a:solidFill>
              <a:srgbClr val="E4E9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4069080"/>
            <a:ext cx="73152" cy="51206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069080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debt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114800" y="4069080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golden-set gate on every agent template; customer-flagged failures auto-open tickets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4617720"/>
            <a:ext cx="11247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4E9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4617720"/>
            <a:ext cx="73152" cy="51206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4617720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vendor lock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114800" y="4617720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abstraction layer (Gemini · Claude · GPT · local). BYOK for Enterprise tier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5166360"/>
            <a:ext cx="11247120" cy="512064"/>
          </a:xfrm>
          <a:prstGeom prst="rect">
            <a:avLst/>
          </a:prstGeom>
          <a:solidFill>
            <a:srgbClr val="F2F4F8"/>
          </a:solidFill>
          <a:ln w="6350">
            <a:solidFill>
              <a:srgbClr val="E4E9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5166360"/>
            <a:ext cx="73152" cy="51206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5166360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(HIPAA, GDPR)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114800" y="5166360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SOC2 in Phase 4, DPIA templates per vertical, PII tagging, data residency controls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5715000"/>
            <a:ext cx="11247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4E9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" y="5715000"/>
            <a:ext cx="73152" cy="5120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5715000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 / capacity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114800" y="5715000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 2 agentic engineers (JD already drafted); design-partner-led rollout to sequence scope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65562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Biz2Bricks  ·  Agentic Platform Deep Dive  ·  Confidential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72800" y="655624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22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73152" cy="32918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decisions I need this quarter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09728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011680"/>
            <a:ext cx="11247120" cy="1371600"/>
          </a:xfrm>
          <a:prstGeom prst="rect">
            <a:avLst/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2194560"/>
            <a:ext cx="914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1737360" y="224028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Approve Agent Platform v1 (Phase 1 + 2)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737360" y="2670048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Tool registry + MCP, LangGraph runtime, Next.js builder, 10 starter templates. 14–18 engineering weeks.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11247120" cy="1371600"/>
          </a:xfrm>
          <a:prstGeom prst="rect">
            <a:avLst/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" y="3749040"/>
            <a:ext cx="914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1737360" y="379476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Approve new pricing architecture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737360" y="4224528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from 4-tier static to 5-tier + metered overage. Requires billing + metering build in Phase 2.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5120640"/>
            <a:ext cx="11247120" cy="1371600"/>
          </a:xfrm>
          <a:prstGeom prst="rect">
            <a:avLst/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31520" y="5303520"/>
            <a:ext cx="914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1737360" y="534924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Approve 3 hires + 3 design partners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737360" y="5779008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agentic engineers, 1 product designer. Commit to 3 design partners per vertical for Phase 1–2.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60350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green light in April, we ship Phase 1 by early July and run first design-partner agent in August.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cwijay@biz2bricks.ai  ·  VP Engineering  ·  April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Biz2Bricks Agentic Platform — Executive Deep Dive</dc:title>
  <dc:subject>PptxGenJS Presentation</dc:subject>
  <dc:creator>C.K. — VP Engineering, Biz2Bricks</dc:creator>
  <cp:lastModifiedBy>C.K. — VP Engineering, Biz2Bricks</cp:lastModifiedBy>
  <cp:revision>1</cp:revision>
  <dcterms:created xsi:type="dcterms:W3CDTF">2026-04-18T18:21:02Z</dcterms:created>
  <dcterms:modified xsi:type="dcterms:W3CDTF">2026-04-18T18:21:02Z</dcterms:modified>
</cp:coreProperties>
</file>